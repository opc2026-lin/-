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5" r:id="rId66"/>
    <p:sldId id="326" r:id="rId67"/>
    <p:sldId id="330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40.jpe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image" Target="../media/image4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45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png"/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image" Target="../media/image53.jpe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jpeg"/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image" Target="../media/image57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image" Target="../media/image63.jpeg"/><Relationship Id="rId1" Type="http://schemas.openxmlformats.org/officeDocument/2006/relationships/image" Target="../media/image62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1.png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image" Target="../media/image64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jpeg"/><Relationship Id="rId1" Type="http://schemas.openxmlformats.org/officeDocument/2006/relationships/image" Target="../media/image74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0.png"/><Relationship Id="rId2" Type="http://schemas.openxmlformats.org/officeDocument/2006/relationships/image" Target="../media/image79.jpeg"/><Relationship Id="rId1" Type="http://schemas.openxmlformats.org/officeDocument/2006/relationships/image" Target="../media/image78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0.png"/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image" Target="../media/image81.jpe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jpeg"/><Relationship Id="rId7" Type="http://schemas.openxmlformats.org/officeDocument/2006/relationships/image" Target="../media/image90.jpeg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jpeg"/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4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3.jpe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jpeg"/><Relationship Id="rId4" Type="http://schemas.openxmlformats.org/officeDocument/2006/relationships/image" Target="../media/image99.jpeg"/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image" Target="../media/image96.jpe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5.png"/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image" Target="../media/image10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2916132" y="2058840"/>
            <a:ext cx="6292215" cy="422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4400" b="1" kern="0" spc="5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福建省泉州市第一医院</a:t>
            </a: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5795" algn="l" rtl="0" eaLnBrk="0">
              <a:lnSpc>
                <a:spcPts val="6780"/>
              </a:lnSpc>
            </a:pPr>
            <a:r>
              <a:rPr sz="4400" b="1" kern="0" spc="5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综合能源托管项目</a:t>
            </a: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19325" algn="l" rtl="0" eaLnBrk="0">
              <a:lnSpc>
                <a:spcPct val="87000"/>
              </a:lnSpc>
              <a:spcBef>
                <a:spcPts val="970"/>
              </a:spcBef>
            </a:pPr>
            <a:r>
              <a:rPr sz="3200" kern="0" spc="4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技术方案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7335" algn="l" rtl="0" eaLnBrk="0">
              <a:lnSpc>
                <a:spcPct val="88000"/>
              </a:lnSpc>
            </a:pPr>
            <a:r>
              <a:rPr 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知鱼智联科技（福建）有限公司</a:t>
            </a:r>
            <a:endParaRPr lang="zh-CN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385420" y="2761500"/>
            <a:ext cx="4076065" cy="272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3575" algn="l" rtl="0" eaLnBrk="0">
              <a:lnSpc>
                <a:spcPct val="87000"/>
              </a:lnSpc>
              <a:spcBef>
                <a:spcPts val="5"/>
              </a:spcBef>
              <a:tabLst>
                <a:tab pos="890905" algn="l"/>
              </a:tabLst>
            </a:pPr>
            <a:r>
              <a:rPr sz="26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600" b="1" kern="0" spc="1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项目基本信息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3740" indent="-22225" algn="l" rtl="0" eaLnBrk="0">
              <a:lnSpc>
                <a:spcPct val="263000"/>
              </a:lnSpc>
              <a:spcBef>
                <a:spcPts val="5"/>
              </a:spcBef>
              <a:tabLst>
                <a:tab pos="890905" algn="l"/>
                <a:tab pos="892810" algn="l"/>
              </a:tabLst>
            </a:pPr>
            <a:r>
              <a:rPr sz="26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6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6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600" b="1" kern="0" spc="17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节能技改及运维方案</a:t>
            </a:r>
            <a:r>
              <a:rPr sz="26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600" b="1" kern="0" spc="1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2317301" y="2776531"/>
            <a:ext cx="2856229" cy="284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600" b="1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7000"/>
              </a:lnSpc>
              <a:spcBef>
                <a:spcPts val="785"/>
              </a:spcBef>
            </a:pPr>
            <a:r>
              <a:rPr sz="2600" b="1" kern="0" spc="1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用能系统现状分析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indent="-1270" algn="l" rtl="0" eaLnBrk="0">
              <a:lnSpc>
                <a:spcPct val="93000"/>
              </a:lnSpc>
              <a:spcBef>
                <a:spcPts val="5"/>
              </a:spcBef>
            </a:pPr>
            <a:r>
              <a:rPr sz="2600" b="1" kern="0" spc="1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效益、</a:t>
            </a:r>
            <a:r>
              <a:rPr sz="2600" b="1" kern="0" spc="-5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600" b="1" kern="0" spc="1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投资估算及</a:t>
            </a:r>
            <a:r>
              <a:rPr sz="2600" b="1" kern="0" spc="1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合作模式</a:t>
            </a:r>
            <a:endParaRPr sz="2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463665" y="1083706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5100" b="1" kern="0" spc="-38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000" b="1" kern="0" spc="0" baseline="-1000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1463665" y="254103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2"/>
          <p:cNvSpPr/>
          <p:nvPr/>
        </p:nvSpPr>
        <p:spPr>
          <a:xfrm>
            <a:off x="1463665" y="3718956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22"/>
          <p:cNvSpPr/>
          <p:nvPr/>
        </p:nvSpPr>
        <p:spPr>
          <a:xfrm>
            <a:off x="1463665" y="4787026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textbox 22"/>
          <p:cNvSpPr/>
          <p:nvPr/>
        </p:nvSpPr>
        <p:spPr>
          <a:xfrm>
            <a:off x="6477625" y="254103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22"/>
          <p:cNvSpPr/>
          <p:nvPr/>
        </p:nvSpPr>
        <p:spPr>
          <a:xfrm>
            <a:off x="6477625" y="3718956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xtbox 22"/>
          <p:cNvSpPr/>
          <p:nvPr/>
        </p:nvSpPr>
        <p:spPr>
          <a:xfrm>
            <a:off x="6477625" y="4787026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/>
          <p:nvPr/>
        </p:nvSpPr>
        <p:spPr>
          <a:xfrm>
            <a:off x="6050089" y="2815831"/>
            <a:ext cx="3482340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6780" algn="l" rtl="0" eaLnBrk="0">
              <a:lnSpc>
                <a:spcPct val="87000"/>
              </a:lnSpc>
              <a:spcBef>
                <a:spcPts val="0"/>
              </a:spcBef>
              <a:tabLst>
                <a:tab pos="1368425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项目效益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-12700" y="-12700"/>
            <a:ext cx="5332729" cy="5037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7000"/>
              </a:lnSpc>
              <a:spcBef>
                <a:spcPts val="5"/>
              </a:spcBef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项目效益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00630" algn="l" rtl="0" eaLnBrk="0">
              <a:lnSpc>
                <a:spcPct val="88000"/>
              </a:lnSpc>
              <a:spcBef>
                <a:spcPts val="515"/>
              </a:spcBef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政策效益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9670" algn="l" rtl="0" eaLnBrk="0">
              <a:lnSpc>
                <a:spcPct val="89000"/>
              </a:lnSpc>
              <a:spcBef>
                <a:spcPts val="455"/>
              </a:spcBef>
            </a:pP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响应国家提出的十四五“碳达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峰</a:t>
            </a:r>
            <a:r>
              <a:rPr sz="1500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”和</a:t>
            </a:r>
            <a:r>
              <a:rPr sz="1500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“碳中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01675" indent="1270" algn="l" rtl="0" eaLnBrk="0">
              <a:lnSpc>
                <a:spcPct val="161000"/>
              </a:lnSpc>
              <a:spcBef>
                <a:spcPts val="65"/>
              </a:spcBef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500" kern="0" spc="-5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”政策目标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，响应《福建省公共机构节约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能源资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源工作</a:t>
            </a:r>
            <a:r>
              <a:rPr sz="1500" kern="0" spc="-5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sz="1500" kern="0" spc="-5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十四五</a:t>
            </a:r>
            <a:r>
              <a:rPr sz="1500" kern="0" spc="-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”规划》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（闽机管〔202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1〕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162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号）</a:t>
            </a:r>
            <a:r>
              <a:rPr sz="15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kern="0" spc="-6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《福建省人民政府办公厅关于推进公共建筑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节能改造七条措施的通知》</a:t>
            </a:r>
            <a:r>
              <a:rPr sz="1500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（闽政办〔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2016〕</a:t>
            </a:r>
            <a:r>
              <a:rPr sz="15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74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号）</a:t>
            </a:r>
            <a:r>
              <a:rPr sz="1500" kern="0" spc="-4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kern="0" spc="-6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《福州市机关事务管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理局2024年公共机构节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能工作通知》</a:t>
            </a:r>
            <a:r>
              <a:rPr sz="1500" kern="0" spc="-6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（榕机管〔2024〕23号）等文件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要求，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通过实施老旧制冷机房的改造，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助力福建省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泉州市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第一医院达成企业节能降耗的考核任务指标。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909307" y="898652"/>
            <a:ext cx="4204208" cy="5057647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21044" y="518795"/>
            <a:ext cx="1905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/>
          <p:nvPr/>
        </p:nvSpPr>
        <p:spPr>
          <a:xfrm>
            <a:off x="-12700" y="-12700"/>
            <a:ext cx="4896484" cy="554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7000"/>
              </a:lnSpc>
              <a:spcBef>
                <a:spcPts val="5"/>
              </a:spcBef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项目效益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95195" algn="l" rtl="0" eaLnBrk="0">
              <a:lnSpc>
                <a:spcPct val="88000"/>
              </a:lnSpc>
              <a:spcBef>
                <a:spcPts val="520"/>
              </a:spcBef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直接经济效益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2230" algn="l" rtl="0" eaLnBrk="0">
              <a:lnSpc>
                <a:spcPct val="89000"/>
              </a:lnSpc>
              <a:spcBef>
                <a:spcPts val="455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投入新的高效空调机组和自控系统后，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7570" algn="l" rtl="0" eaLnBrk="0">
              <a:lnSpc>
                <a:spcPts val="2880"/>
              </a:lnSpc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数字化运维。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2490" indent="460375" algn="l" rtl="0" eaLnBrk="0">
              <a:lnSpc>
                <a:spcPct val="159000"/>
              </a:lnSpc>
              <a:spcBef>
                <a:spcPts val="285"/>
              </a:spcBef>
            </a:pP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一方面实现中央空调系统的运行节能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减少能源费用，预期</a:t>
            </a: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空调系统节能率可达20%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以上。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73125" indent="461010" algn="l" rtl="0" eaLnBrk="0">
              <a:lnSpc>
                <a:spcPct val="159000"/>
              </a:lnSpc>
              <a:spcBef>
                <a:spcPts val="50"/>
              </a:spcBef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另一方面提升空调系统的运行质量，减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少维修费用及人工运行管理的工作强度，</a:t>
            </a:r>
            <a:r>
              <a:rPr sz="1500" b="1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升福建省泉州市第一医院能源设备运行的稳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定性和管理水平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821044" y="518795"/>
            <a:ext cx="1905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-12700" y="-12700"/>
            <a:ext cx="4968240" cy="5951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7000"/>
              </a:lnSpc>
              <a:spcBef>
                <a:spcPts val="5"/>
              </a:spcBef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项目效益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86330" algn="l" rtl="0" eaLnBrk="0">
              <a:lnSpc>
                <a:spcPct val="88000"/>
              </a:lnSpc>
              <a:spcBef>
                <a:spcPts val="510"/>
              </a:spcBef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间接经济效益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  <a:spcBef>
                <a:spcPts val="460"/>
              </a:spcBef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医疗环境和服务质量优化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：避免因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151255" indent="4445" algn="l" rtl="0" eaLnBrk="0">
              <a:lnSpc>
                <a:spcPct val="163000"/>
              </a:lnSpc>
              <a:spcBef>
                <a:spcPts val="50"/>
              </a:spcBef>
            </a:pP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空调系统老化损坏影响正常供冷导致的空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调效果不满意投诉、乃至医疗事故和医患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纠纷；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148080" indent="457200" algn="l" rtl="0" eaLnBrk="0">
              <a:lnSpc>
                <a:spcPct val="159000"/>
              </a:lnSpc>
              <a:spcBef>
                <a:spcPts val="60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提升医院的绿色形象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向行政主管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单位申报节能相关的补贴和荣誉奖项，联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合企业向发改委、经信委、科委等单位申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报节能领域科研课题；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150620" indent="454660" algn="l" rtl="0" eaLnBrk="0">
              <a:lnSpc>
                <a:spcPct val="159000"/>
              </a:lnSpc>
              <a:spcBef>
                <a:spcPts val="60"/>
              </a:spcBef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智能化管理水平提升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1500" kern="0" spc="-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实现空调系</a:t>
            </a:r>
            <a:r>
              <a:rPr sz="1500" kern="0" spc="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统远程监控和故障预警，减少人力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成本，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提升管理效率。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19088" y="748284"/>
            <a:ext cx="5071871" cy="2759964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21044" y="518795"/>
            <a:ext cx="1905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6"/>
          <p:cNvSpPr/>
          <p:nvPr/>
        </p:nvSpPr>
        <p:spPr>
          <a:xfrm>
            <a:off x="6050089" y="2831571"/>
            <a:ext cx="4549140" cy="680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985" algn="l" rtl="0" eaLnBrk="0">
              <a:lnSpc>
                <a:spcPct val="87000"/>
              </a:lnSpc>
              <a:spcBef>
                <a:spcPts val="5"/>
              </a:spcBef>
              <a:tabLst>
                <a:tab pos="1368425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项目基本信息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2"/>
          <p:cNvSpPr/>
          <p:nvPr/>
        </p:nvSpPr>
        <p:spPr>
          <a:xfrm>
            <a:off x="474471" y="1283715"/>
            <a:ext cx="5067934" cy="399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500" kern="0" spc="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泉州市第一医院（福建医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科大学附属泉州第一医院）创建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4445" algn="l" rtl="0" eaLnBrk="0">
              <a:lnSpc>
                <a:spcPct val="200000"/>
              </a:lnSpc>
              <a:spcBef>
                <a:spcPts val="10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于1936年，是一所融医疗、教学、科研和预防保健为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一体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的三级甲等综合医院。医院设有四个院区（东街院区、城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东院区、刺桐院区、温陵院区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编制床位2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890张，开放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床位2743张。员工3726人。国家重点建设专科 1个，福建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省临床重点专科13个，泉州市重点专科17个、泉州市专病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中心11个、泉州市专病团队10个、泉州市亚专科建设项目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6个。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500" kern="0" spc="-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本次能源托管项目范围为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城东院区及东街院区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08191" y="2663952"/>
            <a:ext cx="2718815" cy="2037588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092184" y="2674620"/>
            <a:ext cx="2718816" cy="2014727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92184" y="812291"/>
            <a:ext cx="2718816" cy="172212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08191" y="818388"/>
            <a:ext cx="2732532" cy="1696211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89903" y="4858511"/>
            <a:ext cx="2744724" cy="1537716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5900" y="4858511"/>
            <a:ext cx="2718816" cy="1537716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947877" y="348259"/>
            <a:ext cx="1240789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821044" y="518795"/>
            <a:ext cx="1905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284416" y="1038135"/>
            <a:ext cx="5284127" cy="4670526"/>
            <a:chOff x="0" y="0"/>
            <a:chExt cx="5284127" cy="4670526"/>
          </a:xfrm>
        </p:grpSpPr>
        <p:pic>
          <p:nvPicPr>
            <p:cNvPr id="116" name="picture 1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284127" cy="4670526"/>
            </a:xfrm>
            <a:prstGeom prst="rect">
              <a:avLst/>
            </a:prstGeom>
          </p:spPr>
        </p:pic>
        <p:sp>
          <p:nvSpPr>
            <p:cNvPr id="118" name="textbox 118"/>
            <p:cNvSpPr/>
            <p:nvPr/>
          </p:nvSpPr>
          <p:spPr>
            <a:xfrm>
              <a:off x="2981191" y="1430121"/>
              <a:ext cx="662305" cy="8420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900" kern="0" spc="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能源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8415" algn="l" rtl="0" eaLnBrk="0">
                <a:lnSpc>
                  <a:spcPct val="94000"/>
                </a:lnSpc>
                <a:spcBef>
                  <a:spcPts val="185"/>
                </a:spcBef>
              </a:pPr>
              <a:r>
                <a:rPr sz="900" kern="0" spc="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中心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5000"/>
                </a:lnSpc>
              </a:pPr>
              <a:r>
                <a:rPr sz="1200" kern="0" spc="-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同心楼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0" name="textbox 120"/>
            <p:cNvSpPr/>
            <p:nvPr/>
          </p:nvSpPr>
          <p:spPr>
            <a:xfrm>
              <a:off x="1469250" y="1138326"/>
              <a:ext cx="1376044" cy="283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7000"/>
                </a:lnSpc>
              </a:pPr>
              <a:r>
                <a:rPr sz="1200" kern="0" spc="-5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门诊楼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r" rtl="0" eaLnBrk="0">
                <a:lnSpc>
                  <a:spcPct val="85000"/>
                </a:lnSpc>
                <a:spcBef>
                  <a:spcPts val="10"/>
                </a:spcBef>
              </a:pPr>
              <a:r>
                <a:rPr sz="900" kern="0" spc="7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食堂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2" name="textbox 122"/>
            <p:cNvSpPr/>
            <p:nvPr/>
          </p:nvSpPr>
          <p:spPr>
            <a:xfrm rot="1740000">
              <a:off x="1648517" y="2045598"/>
              <a:ext cx="402590" cy="156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6000"/>
                </a:lnSpc>
              </a:pPr>
              <a:r>
                <a:rPr sz="900" kern="0" spc="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感染楼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4" name="textbox 124"/>
            <p:cNvSpPr/>
            <p:nvPr/>
          </p:nvSpPr>
          <p:spPr>
            <a:xfrm>
              <a:off x="3226415" y="3893489"/>
              <a:ext cx="401954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900" kern="0" spc="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教学楼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26" name="textbox 126"/>
            <p:cNvSpPr/>
            <p:nvPr/>
          </p:nvSpPr>
          <p:spPr>
            <a:xfrm>
              <a:off x="2285408" y="1658111"/>
              <a:ext cx="401954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4000"/>
                </a:lnSpc>
              </a:pPr>
              <a:r>
                <a:rPr sz="900" kern="0" spc="8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住院楼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209599" y="1022745"/>
            <a:ext cx="4598632" cy="4712079"/>
            <a:chOff x="0" y="0"/>
            <a:chExt cx="4598632" cy="4712079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598632" cy="4712079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519010" y="1383472"/>
              <a:ext cx="1934845" cy="15487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200" kern="0" spc="-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感染楼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45590" indent="-219075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1200" kern="0" spc="-4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门诊医技</a:t>
              </a: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32" name="textbox 132"/>
            <p:cNvSpPr/>
            <p:nvPr/>
          </p:nvSpPr>
          <p:spPr>
            <a:xfrm rot="20760000">
              <a:off x="647786" y="3906728"/>
              <a:ext cx="482600" cy="1860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住院楼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34" name="textbox 134"/>
            <p:cNvSpPr/>
            <p:nvPr/>
          </p:nvSpPr>
          <p:spPr>
            <a:xfrm rot="20760000">
              <a:off x="3369636" y="3557024"/>
              <a:ext cx="480694" cy="1847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急诊楼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36" name="textbox 136"/>
            <p:cNvSpPr/>
            <p:nvPr/>
          </p:nvSpPr>
          <p:spPr>
            <a:xfrm>
              <a:off x="1605394" y="835162"/>
              <a:ext cx="464819" cy="1809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5000"/>
                </a:lnSpc>
              </a:pPr>
              <a:r>
                <a:rPr sz="12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中山楼</a:t>
              </a:r>
              <a:endParaRPr sz="1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44" name="textbox 144"/>
          <p:cNvSpPr/>
          <p:nvPr/>
        </p:nvSpPr>
        <p:spPr>
          <a:xfrm>
            <a:off x="948182" y="347650"/>
            <a:ext cx="1240155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建筑情况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2247709" y="5955486"/>
            <a:ext cx="135953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城东院区平面图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8837421" y="5955486"/>
            <a:ext cx="135255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东街院区平面图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7738603" y="3871698"/>
            <a:ext cx="502284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40"/>
              </a:lnSpc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宝莲楼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86475" y="518795"/>
            <a:ext cx="1905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 154"/>
          <p:cNvGraphicFramePr>
            <a:graphicFrameLocks noGrp="1"/>
          </p:cNvGraphicFramePr>
          <p:nvPr/>
        </p:nvGraphicFramePr>
        <p:xfrm>
          <a:off x="669290" y="1416545"/>
          <a:ext cx="11014709" cy="2150745"/>
        </p:xfrm>
        <a:graphic>
          <a:graphicData uri="http://schemas.openxmlformats.org/drawingml/2006/table">
            <a:tbl>
              <a:tblPr/>
              <a:tblGrid>
                <a:gridCol w="845819"/>
                <a:gridCol w="1205230"/>
                <a:gridCol w="5907404"/>
                <a:gridCol w="1240155"/>
                <a:gridCol w="970280"/>
                <a:gridCol w="845819"/>
              </a:tblGrid>
              <a:tr h="2419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7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25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120" algn="l" rtl="0" eaLnBrk="0">
                        <a:lnSpc>
                          <a:spcPct val="86000"/>
                        </a:lnSpc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0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3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台数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420" algn="l" rtl="0" eaLnBrk="0">
                        <a:lnSpc>
                          <a:spcPct val="86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能源中心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652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离心式主机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132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制冷量850RT，功率536kW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68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81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652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离心式主机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132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制冷量430RT，功率258kW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68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81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扬程50mH2O，流量200m3/h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，功率45kW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2010.07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81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扬程50mH2O，流量400m3/h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，功率90kW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2010.06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81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81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扬程32mH2O，流量300m3/h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，功率30kW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2010.06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928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扬程28.9mH2O，流量590m3/h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，功率75kW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2010.04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81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9505" algn="l" rtl="0" eaLnBrk="0">
                        <a:lnSpc>
                          <a:spcPct val="86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风机功率22kW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672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良机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81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93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9505" algn="l" rtl="0" eaLnBrk="0">
                        <a:lnSpc>
                          <a:spcPct val="86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风机功率11kW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6725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良机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textbox 156"/>
          <p:cNvSpPr/>
          <p:nvPr/>
        </p:nvSpPr>
        <p:spPr>
          <a:xfrm>
            <a:off x="-12700" y="-12700"/>
            <a:ext cx="11705590" cy="1414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8000"/>
              </a:lnSpc>
              <a:tabLst>
                <a:tab pos="97536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主要用能系统及设备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56150" algn="l" rtl="0" eaLnBrk="0">
              <a:lnSpc>
                <a:spcPct val="90000"/>
              </a:lnSpc>
              <a:spcBef>
                <a:spcPts val="0"/>
              </a:spcBef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中央空调系统（城东院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区）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668654" y="4032973"/>
          <a:ext cx="11015344" cy="1443989"/>
        </p:xfrm>
        <a:graphic>
          <a:graphicData uri="http://schemas.openxmlformats.org/drawingml/2006/table">
            <a:tbl>
              <a:tblPr/>
              <a:tblGrid>
                <a:gridCol w="845819"/>
                <a:gridCol w="1205230"/>
                <a:gridCol w="5908039"/>
                <a:gridCol w="1240155"/>
                <a:gridCol w="970280"/>
                <a:gridCol w="845819"/>
              </a:tblGrid>
              <a:tr h="243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7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31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1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0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3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台数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同心楼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652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离心式主机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186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制冷量680RT，功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率375.6kW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68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652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离心式主机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186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制冷量640RT，功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率356.8kW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68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87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扬程34mH2O，流量400m3/h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，功率75kW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94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凯泉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2019.08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887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扬程29mH2O，流量483m3/h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，功率55kW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94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凯泉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2019.08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20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31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功率15kW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6725" algn="l" rtl="0" eaLnBrk="0">
                        <a:lnSpc>
                          <a:spcPct val="89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良机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2018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81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table 166"/>
          <p:cNvGraphicFramePr>
            <a:graphicFrameLocks noGrp="1"/>
          </p:cNvGraphicFramePr>
          <p:nvPr/>
        </p:nvGraphicFramePr>
        <p:xfrm>
          <a:off x="668019" y="1405254"/>
          <a:ext cx="11015980" cy="1474470"/>
        </p:xfrm>
        <a:graphic>
          <a:graphicData uri="http://schemas.openxmlformats.org/drawingml/2006/table">
            <a:tbl>
              <a:tblPr/>
              <a:tblGrid>
                <a:gridCol w="906780"/>
                <a:gridCol w="1144269"/>
                <a:gridCol w="5597525"/>
                <a:gridCol w="1550670"/>
                <a:gridCol w="970914"/>
                <a:gridCol w="845820"/>
              </a:tblGrid>
              <a:tr h="2482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2760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7695" algn="l" rtl="0" eaLnBrk="0">
                        <a:lnSpc>
                          <a:spcPct val="86000"/>
                        </a:lnSpc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0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27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台数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475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685" indent="-17081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门诊医技</a:t>
                      </a: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大楼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410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螺杆式主机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9980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功率420kw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76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克莱门特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290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47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7920" algn="l" rtl="0" eaLnBrk="0">
                        <a:lnSpc>
                          <a:spcPct val="86000"/>
                        </a:lnSpc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扬程26.7mH2O，流量366m3/h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，功率45kw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8465" algn="l" rtl="0" eaLnBrk="0">
                        <a:lnSpc>
                          <a:spcPct val="86000"/>
                        </a:lnSpc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山东博山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290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47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7920" algn="l" rtl="0" eaLnBrk="0">
                        <a:lnSpc>
                          <a:spcPct val="86000"/>
                        </a:lnSpc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扬程20mH2O，流量200m3/h，功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率18.5kw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20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江西赣州水泵厂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290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47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33170" algn="l" rtl="0" eaLnBrk="0">
                        <a:lnSpc>
                          <a:spcPct val="86000"/>
                        </a:lnSpc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扬程32mH2O，流量400m3/h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，功率55kw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20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江西赣州水泵厂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17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28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33625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免风冷却塔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2300" algn="l" rtl="0" eaLnBrk="0">
                        <a:lnSpc>
                          <a:spcPct val="89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良机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290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8" name="textbox 168"/>
          <p:cNvSpPr/>
          <p:nvPr/>
        </p:nvSpPr>
        <p:spPr>
          <a:xfrm>
            <a:off x="-12700" y="-12700"/>
            <a:ext cx="11705590" cy="141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8000"/>
              </a:lnSpc>
              <a:tabLst>
                <a:tab pos="97536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主要用能系统及设备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56150" algn="l" rtl="0" eaLnBrk="0">
              <a:lnSpc>
                <a:spcPct val="90000"/>
              </a:lnSpc>
              <a:spcBef>
                <a:spcPts val="5"/>
              </a:spcBef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中央空调系统（城东院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区）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668654" y="3196590"/>
          <a:ext cx="11015344" cy="1203960"/>
        </p:xfrm>
        <a:graphic>
          <a:graphicData uri="http://schemas.openxmlformats.org/drawingml/2006/table">
            <a:tbl>
              <a:tblPr/>
              <a:tblGrid>
                <a:gridCol w="906144"/>
                <a:gridCol w="1144905"/>
                <a:gridCol w="5616575"/>
                <a:gridCol w="1530985"/>
                <a:gridCol w="970915"/>
                <a:gridCol w="845819"/>
              </a:tblGrid>
              <a:tr h="242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377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817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6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3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台数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5260" indent="15748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1号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住院楼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0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离心式主机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684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制冷量450RT，功率302kW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29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3355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1997.09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80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扬程26.7mH2O，流量366m3/h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，功率45kW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89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山东博山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2000.12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80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扬程26.7mH2O，流量366m3/h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，功率45kW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89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山东博山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2000.12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20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377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功率15kW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2775" algn="l" rtl="0" eaLnBrk="0">
                        <a:lnSpc>
                          <a:spcPct val="89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良机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2000.06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354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table 176"/>
          <p:cNvGraphicFramePr>
            <a:graphicFrameLocks noGrp="1"/>
          </p:cNvGraphicFramePr>
          <p:nvPr/>
        </p:nvGraphicFramePr>
        <p:xfrm>
          <a:off x="668019" y="4718050"/>
          <a:ext cx="11015980" cy="964565"/>
        </p:xfrm>
        <a:graphic>
          <a:graphicData uri="http://schemas.openxmlformats.org/drawingml/2006/table">
            <a:tbl>
              <a:tblPr/>
              <a:tblGrid>
                <a:gridCol w="906145"/>
                <a:gridCol w="1144905"/>
                <a:gridCol w="5607050"/>
                <a:gridCol w="1541145"/>
                <a:gridCol w="970914"/>
                <a:gridCol w="845820"/>
              </a:tblGrid>
              <a:tr h="243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326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26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0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27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台数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95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67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中山楼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风冷热泵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633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制冷量405kW，功率147kW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73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开利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2012.05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33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759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风冷热泵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71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制冷量420kW，功率15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9kW（已报废）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9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大金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2005.10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33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20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58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扬程28mH2O，流量90m3/h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，功率11kW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67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广一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2005.04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417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6916419" y="2035809"/>
          <a:ext cx="5058410" cy="3944620"/>
        </p:xfrm>
        <a:graphic>
          <a:graphicData uri="http://schemas.openxmlformats.org/drawingml/2006/table">
            <a:tbl>
              <a:tblPr/>
              <a:tblGrid>
                <a:gridCol w="587375"/>
                <a:gridCol w="1059180"/>
                <a:gridCol w="1277620"/>
                <a:gridCol w="808355"/>
                <a:gridCol w="577850"/>
                <a:gridCol w="748030"/>
              </a:tblGrid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030" algn="l" rtl="0" eaLnBrk="0">
                        <a:lnSpc>
                          <a:spcPct val="85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8750" algn="l" rtl="0" eaLnBrk="0">
                        <a:lnSpc>
                          <a:spcPct val="86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1010" algn="l" rtl="0" eaLnBrk="0">
                        <a:lnSpc>
                          <a:spcPct val="85000"/>
                        </a:lnSpc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3520" algn="l" rtl="0" eaLnBrk="0">
                        <a:lnSpc>
                          <a:spcPct val="86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功率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315" algn="l" rtl="0" eaLnBrk="0">
                        <a:lnSpc>
                          <a:spcPct val="86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180" indent="-18859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出厂时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indent="47625" algn="l" rtl="0" eaLnBrk="0">
                        <a:lnSpc>
                          <a:spcPct val="93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6楼</a:t>
                      </a: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屋顶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5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空气源热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43230" indent="-287020" algn="l" rtl="0" eaLnBrk="0">
                        <a:lnSpc>
                          <a:spcPct val="93000"/>
                        </a:lnSpc>
                        <a:spcBef>
                          <a:spcPts val="21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泵热水机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CL-H-220K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77.12KW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7480" algn="l" rtl="0" eaLnBrk="0">
                        <a:lnSpc>
                          <a:spcPct val="86000"/>
                        </a:lnSpc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3210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5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多级泵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128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JLP180KM2-2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75" algn="l" rtl="0" eaLnBrk="0">
                        <a:lnSpc>
                          <a:spcPct val="86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3210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637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YE2-100L-2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780" algn="l" rtl="0" eaLnBrk="0">
                        <a:lnSpc>
                          <a:spcPct val="83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4170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162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YE2-112M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7335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2021.0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4170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indent="635" algn="l" rtl="0" eaLnBrk="0">
                        <a:lnSpc>
                          <a:spcPct val="9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23楼</a:t>
                      </a: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屋顶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5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空气源热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43230" indent="-287020" algn="l" rtl="0" eaLnBrk="0">
                        <a:lnSpc>
                          <a:spcPct val="93000"/>
                        </a:lnSpc>
                        <a:spcBef>
                          <a:spcPts val="21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泵热水机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CL-H-220K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77.12KW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6845" algn="l" rtl="0" eaLnBrk="0">
                        <a:lnSpc>
                          <a:spcPct val="86000"/>
                        </a:lnSpc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3210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14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多级泵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162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YE2-112M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7335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4KW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2021.0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4170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table 182"/>
          <p:cNvGraphicFramePr>
            <a:graphicFrameLocks noGrp="1"/>
          </p:cNvGraphicFramePr>
          <p:nvPr/>
        </p:nvGraphicFramePr>
        <p:xfrm>
          <a:off x="667384" y="3554094"/>
          <a:ext cx="5937884" cy="2410460"/>
        </p:xfrm>
        <a:graphic>
          <a:graphicData uri="http://schemas.openxmlformats.org/drawingml/2006/table">
            <a:tbl>
              <a:tblPr/>
              <a:tblGrid>
                <a:gridCol w="1174750"/>
                <a:gridCol w="1169035"/>
                <a:gridCol w="1263650"/>
                <a:gridCol w="822960"/>
                <a:gridCol w="881380"/>
                <a:gridCol w="626109"/>
              </a:tblGrid>
              <a:tr h="605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703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402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05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330" indent="-17589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出厂日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9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5460" indent="-381635" algn="l" rtl="0" eaLnBrk="0">
                        <a:lnSpc>
                          <a:spcPct val="9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2、3号配电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30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干式变压器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132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SCB9-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940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1600/10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1600KVA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4465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39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288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1号配电室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1320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SCB9-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0797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2500/10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63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2500KVA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84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2000.11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716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2920" indent="-376555" algn="l" rtl="0" eaLnBrk="0">
                        <a:lnSpc>
                          <a:spcPct val="9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高低压配电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房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300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干式变压器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3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SCB11-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9405" algn="l" rtl="0" eaLnBrk="0">
                        <a:lnSpc>
                          <a:spcPct val="83000"/>
                        </a:lnSpc>
                        <a:spcBef>
                          <a:spcPts val="30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1600/10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060" algn="l" rtl="0" eaLnBrk="0">
                        <a:lnSpc>
                          <a:spcPct val="83000"/>
                        </a:lnSpc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1600KVA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840" algn="l" rtl="0" eaLnBrk="0">
                        <a:lnSpc>
                          <a:spcPct val="83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65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4" name="table 184"/>
          <p:cNvGraphicFramePr>
            <a:graphicFrameLocks noGrp="1"/>
          </p:cNvGraphicFramePr>
          <p:nvPr/>
        </p:nvGraphicFramePr>
        <p:xfrm>
          <a:off x="667384" y="2013584"/>
          <a:ext cx="5937884" cy="1076959"/>
        </p:xfrm>
        <a:graphic>
          <a:graphicData uri="http://schemas.openxmlformats.org/drawingml/2006/table">
            <a:tbl>
              <a:tblPr/>
              <a:tblGrid>
                <a:gridCol w="1487805"/>
                <a:gridCol w="1481455"/>
                <a:gridCol w="1481455"/>
                <a:gridCol w="1487169"/>
              </a:tblGrid>
              <a:tr h="311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59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设备系统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943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备注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72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274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供水系统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147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市政水表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374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546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DN100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79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374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546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DN100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table 186"/>
          <p:cNvGraphicFramePr>
            <a:graphicFrameLocks noGrp="1"/>
          </p:cNvGraphicFramePr>
          <p:nvPr/>
        </p:nvGraphicFramePr>
        <p:xfrm>
          <a:off x="667384" y="973454"/>
          <a:ext cx="11307444" cy="563245"/>
        </p:xfrm>
        <a:graphic>
          <a:graphicData uri="http://schemas.openxmlformats.org/drawingml/2006/table">
            <a:tbl>
              <a:tblPr/>
              <a:tblGrid>
                <a:gridCol w="1146175"/>
                <a:gridCol w="995044"/>
                <a:gridCol w="6104889"/>
                <a:gridCol w="1150619"/>
                <a:gridCol w="952500"/>
                <a:gridCol w="958214"/>
              </a:tblGrid>
              <a:tr h="281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8160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设备参数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设备品牌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1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86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能源中心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7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蒸汽锅炉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76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额定蒸发量4t/h，额定蒸汽压力1.25MPa，额定蒸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汽温度194℃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江苏双良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240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2012.05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751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8" name="textbox 188"/>
          <p:cNvSpPr/>
          <p:nvPr/>
        </p:nvSpPr>
        <p:spPr>
          <a:xfrm>
            <a:off x="950010" y="346430"/>
            <a:ext cx="10742930" cy="617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主要用能系统及设备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01770" algn="l" rtl="0" eaLnBrk="0">
              <a:lnSpc>
                <a:spcPct val="86000"/>
              </a:lnSpc>
              <a:spcBef>
                <a:spcPts val="0"/>
              </a:spcBef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蒸汽供应系统（城东院区）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8106588" y="1804834"/>
            <a:ext cx="2693035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同心楼生活热水系统(城东院区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2581541" y="3322701"/>
            <a:ext cx="2098675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高压配电室（城东院区）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2768536" y="1804834"/>
            <a:ext cx="174371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计量系统(城东院区)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1346200" y="3705720"/>
          <a:ext cx="9309099" cy="2672714"/>
        </p:xfrm>
        <a:graphic>
          <a:graphicData uri="http://schemas.openxmlformats.org/drawingml/2006/table">
            <a:tbl>
              <a:tblPr/>
              <a:tblGrid>
                <a:gridCol w="1523364"/>
                <a:gridCol w="2126614"/>
                <a:gridCol w="1656079"/>
                <a:gridCol w="1655445"/>
                <a:gridCol w="1376044"/>
                <a:gridCol w="971550"/>
              </a:tblGrid>
              <a:tr h="4495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1025" algn="l" rtl="0" eaLnBrk="0">
                        <a:lnSpc>
                          <a:spcPct val="85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21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0875" algn="l" rtl="0" eaLnBrk="0">
                        <a:lnSpc>
                          <a:spcPct val="85000"/>
                        </a:lnSpc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64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9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29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6275" indent="-50990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1、2、3号配电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房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3090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低压配电柜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8810" algn="l" rtl="0" eaLnBrk="0">
                        <a:lnSpc>
                          <a:spcPct val="72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ARTU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95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380V/1600A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148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84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41台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29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340" algn="l" rtl="0" eaLnBrk="0">
                        <a:lnSpc>
                          <a:spcPct val="86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低压成套开关设备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86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84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低压无功功率补偿装置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8810" algn="l" rtl="0" eaLnBrk="0">
                        <a:lnSpc>
                          <a:spcPct val="72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ARTU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720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50KVAR*5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148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305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29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340" algn="l" rtl="0" eaLnBrk="0">
                        <a:lnSpc>
                          <a:spcPct val="86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低压成套开关设备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544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2号配电房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30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低压配电屏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8810" algn="l" rtl="0" eaLnBrk="0">
                        <a:lnSpc>
                          <a:spcPct val="72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ARTU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95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380V/3000A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148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1346200" y="997305"/>
          <a:ext cx="9308465" cy="2282825"/>
        </p:xfrm>
        <a:graphic>
          <a:graphicData uri="http://schemas.openxmlformats.org/drawingml/2006/table">
            <a:tbl>
              <a:tblPr/>
              <a:tblGrid>
                <a:gridCol w="1711960"/>
                <a:gridCol w="1705610"/>
                <a:gridCol w="1083944"/>
                <a:gridCol w="1962150"/>
                <a:gridCol w="1550035"/>
                <a:gridCol w="1294764"/>
              </a:tblGrid>
              <a:tr h="384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564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44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73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783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出厂日期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291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36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73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1、2、3号配电房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2470" indent="-51943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环网高压开关柜  </a:t>
                      </a: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747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KYN28A-12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8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719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额定电压12KV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17195" algn="l" rtl="0" eaLnBrk="0">
                        <a:lnSpc>
                          <a:spcPct val="86000"/>
                        </a:lnSpc>
                        <a:spcBef>
                          <a:spcPts val="26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额定电流800A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31445" algn="l" rtl="0" eaLnBrk="0">
                        <a:lnSpc>
                          <a:spcPct val="86000"/>
                        </a:lnSpc>
                        <a:spcBef>
                          <a:spcPts val="25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额定动稳定电流63KA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911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054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213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2470" indent="-51943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环网高压开关柜  </a:t>
                      </a: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H02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1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1325" algn="l" rtl="0" eaLnBrk="0">
                        <a:lnSpc>
                          <a:spcPct val="8600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3号配电房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2470" indent="-51943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环网高压开关柜  </a:t>
                      </a: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H03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7195" algn="l" rtl="0" eaLnBrk="0">
                        <a:lnSpc>
                          <a:spcPct val="85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额定电压12KV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17195" algn="l" rtl="0" eaLnBrk="0">
                        <a:lnSpc>
                          <a:spcPct val="86000"/>
                        </a:lnSpc>
                        <a:spcBef>
                          <a:spcPts val="26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额定电流150A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31445" algn="l" rtl="0" eaLnBrk="0">
                        <a:lnSpc>
                          <a:spcPct val="86000"/>
                        </a:lnSpc>
                        <a:spcBef>
                          <a:spcPts val="25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额定动稳定电流25KA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911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2010.3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86000"/>
                        </a:lnSpc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4台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6" name="textbox 206"/>
          <p:cNvSpPr/>
          <p:nvPr/>
        </p:nvSpPr>
        <p:spPr>
          <a:xfrm>
            <a:off x="950010" y="346430"/>
            <a:ext cx="10742930" cy="633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主要用能系统及设备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06520" algn="l" rtl="0" eaLnBrk="0">
              <a:lnSpc>
                <a:spcPct val="86000"/>
              </a:lnSpc>
              <a:spcBef>
                <a:spcPts val="5"/>
              </a:spcBef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环网高压开关柜（城东院区）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4986692" y="3468039"/>
            <a:ext cx="210438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5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低压配电柜（城东院区）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" name="table 216"/>
          <p:cNvGraphicFramePr>
            <a:graphicFrameLocks noGrp="1"/>
          </p:cNvGraphicFramePr>
          <p:nvPr/>
        </p:nvGraphicFramePr>
        <p:xfrm>
          <a:off x="2241550" y="1011161"/>
          <a:ext cx="7943849" cy="3063875"/>
        </p:xfrm>
        <a:graphic>
          <a:graphicData uri="http://schemas.openxmlformats.org/drawingml/2006/table">
            <a:tbl>
              <a:tblPr/>
              <a:tblGrid>
                <a:gridCol w="1587500"/>
                <a:gridCol w="1927860"/>
                <a:gridCol w="1187450"/>
                <a:gridCol w="1187450"/>
                <a:gridCol w="1023619"/>
                <a:gridCol w="1029970"/>
              </a:tblGrid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547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1785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79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48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2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4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出厂日期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804"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4955" algn="l" rtl="0" eaLnBrk="0">
                        <a:lnSpc>
                          <a:spcPct val="86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高低压配电房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08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高压进线柜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8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P1X-12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12KV/600A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3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环网高压计量柜H02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8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P1X-12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12KV/300A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3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环网高压母联柜H03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8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P1X-12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12KV/600A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814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59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630" algn="l" rtl="0" eaLnBrk="0">
                        <a:lnSpc>
                          <a:spcPct val="86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环网高压出线柜H04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835" algn="l" rtl="0" eaLnBrk="0">
                        <a:lnSpc>
                          <a:spcPct val="84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P1X-12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12K/150A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51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低压配电柜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3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B10Kset5000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9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400V/3000A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715" algn="l" rtl="0" eaLnBrk="0">
                        <a:lnSpc>
                          <a:spcPct val="85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8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4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低压成套开关设备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3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B10Kset5000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9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400V/1100A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9725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8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5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低压无功功率补偿装置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4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低压成套开关设备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8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5145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低压配电屏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8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2085" algn="l" rtl="0" eaLnBrk="0">
                        <a:lnSpc>
                          <a:spcPct val="85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无功功率自动补偿屏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1310Kset5000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400V/336A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5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33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0" indent="-9017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配电室高压工具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绝缘耐压测试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table 218"/>
          <p:cNvGraphicFramePr>
            <a:graphicFrameLocks noGrp="1"/>
          </p:cNvGraphicFramePr>
          <p:nvPr/>
        </p:nvGraphicFramePr>
        <p:xfrm>
          <a:off x="2241550" y="4509642"/>
          <a:ext cx="7943850" cy="1893569"/>
        </p:xfrm>
        <a:graphic>
          <a:graphicData uri="http://schemas.openxmlformats.org/drawingml/2006/table">
            <a:tbl>
              <a:tblPr/>
              <a:tblGrid>
                <a:gridCol w="1598930"/>
                <a:gridCol w="1066800"/>
                <a:gridCol w="1591945"/>
                <a:gridCol w="1113155"/>
                <a:gridCol w="1283335"/>
                <a:gridCol w="1289685"/>
              </a:tblGrid>
              <a:tr h="3257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11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32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设备名称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992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型号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3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180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9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出厂日期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22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595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主体大楼开闭所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indent="-863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高低压配电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室变压器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325" algn="l" rtl="0" eaLnBrk="0">
                        <a:lnSpc>
                          <a:spcPct val="84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SC9-1000/10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79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1999.05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9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87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SC9-630/10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8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630KVA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1999.05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55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22630" indent="-60452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门诊楼地下室配电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室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98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SCB10-800/10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18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90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2020.08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4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98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SC69-1000/10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7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90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2000.12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55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0670" algn="l" rtl="0" eaLnBrk="0">
                        <a:lnSpc>
                          <a:spcPct val="86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总务楼配电室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98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SCB10-630/10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8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630KVA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90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2011.09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9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98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S11-M-500/10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972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500KVA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6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90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2019.08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0" name="textbox 220"/>
          <p:cNvSpPr/>
          <p:nvPr/>
        </p:nvSpPr>
        <p:spPr>
          <a:xfrm>
            <a:off x="950010" y="346430"/>
            <a:ext cx="10742930" cy="676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主要用能系统及设备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4960" algn="l" rtl="0" eaLnBrk="0">
              <a:lnSpc>
                <a:spcPct val="86000"/>
              </a:lnSpc>
              <a:spcBef>
                <a:spcPts val="5"/>
              </a:spcBef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高低压配电柜（城东院区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5158485" y="4298251"/>
            <a:ext cx="2098675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高压配电室（东街院区）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443865" y="1014729"/>
          <a:ext cx="11242675" cy="4989830"/>
        </p:xfrm>
        <a:graphic>
          <a:graphicData uri="http://schemas.openxmlformats.org/drawingml/2006/table">
            <a:tbl>
              <a:tblPr/>
              <a:tblGrid>
                <a:gridCol w="723900"/>
                <a:gridCol w="1185545"/>
                <a:gridCol w="1146175"/>
                <a:gridCol w="1186180"/>
                <a:gridCol w="1255395"/>
                <a:gridCol w="1076325"/>
                <a:gridCol w="1205865"/>
                <a:gridCol w="1215389"/>
                <a:gridCol w="1036319"/>
                <a:gridCol w="1211580"/>
              </a:tblGrid>
              <a:tr h="335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431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05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100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7002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2024年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7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2735" indent="40640" algn="l" rtl="0" eaLnBrk="0">
                        <a:lnSpc>
                          <a:spcPct val="108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16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7500" algn="l" rtl="0" eaLnBrk="0">
                        <a:lnSpc>
                          <a:spcPts val="1680"/>
                        </a:lnSpc>
                      </a:pPr>
                      <a:r>
                        <a:rPr sz="1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1960" algn="l" rtl="0" eaLnBrk="0">
                        <a:lnSpc>
                          <a:spcPct val="85000"/>
                        </a:lnSpc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48920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7660" indent="40640" algn="l" rtl="0" eaLnBrk="0">
                        <a:lnSpc>
                          <a:spcPct val="108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2575" indent="104140" algn="l" rtl="0" eaLnBrk="0">
                        <a:lnSpc>
                          <a:spcPct val="108000"/>
                        </a:lnSpc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1485" algn="l" rtl="0" eaLnBrk="0">
                        <a:lnSpc>
                          <a:spcPct val="85000"/>
                        </a:lnSpc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58445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975" indent="40640" algn="l" rtl="0" eaLnBrk="0">
                        <a:lnSpc>
                          <a:spcPct val="108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890" indent="104140" algn="l" rtl="0" eaLnBrk="0">
                        <a:lnSpc>
                          <a:spcPct val="108000"/>
                        </a:lnSpc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120" algn="l" rtl="0" eaLnBrk="0">
                        <a:lnSpc>
                          <a:spcPct val="85000"/>
                        </a:lnSpc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59080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08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153.84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0.6373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157.93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101.01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0.6396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163.83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8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95.25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0.5814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146.70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92.33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0.6294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151.30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100.27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0.6627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150.24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105.25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3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127.96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81.10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0.6338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169.61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109.80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0.6473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170.28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114.50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0.6724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68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95.71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0.6258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176.37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110.85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0.6285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202.55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138.25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0.6826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3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174.50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112.09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0.6424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9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232.31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152.19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0.6551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220.66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148.12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93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258.42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158.00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0.6114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9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199.30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0.6781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274.13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174.83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0.6378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935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28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319.14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194.61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0.6098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2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306.34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208.77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0.6815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052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328.14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220.04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7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2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320.60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195.52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0.6099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2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300.30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274.29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0.9134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05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321.64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217.18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0.6752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7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276.97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181.20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0.6542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9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282.85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262.09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0.9266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299.84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205.35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0.6849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6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221.60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153.22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89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234.38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216.22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0.9225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258.39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225.28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0.8719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6375" algn="l" rtl="0" eaLnBrk="0">
                        <a:lnSpc>
                          <a:spcPct val="84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181.79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132.11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0.7267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192.98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171.60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0.8892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25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204.00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174.11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0.8535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6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158.21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110.24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0.6968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168.68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153.84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0.9120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176.29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150.26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0.8523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04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95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2435.43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06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1568.36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0.6440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2666.94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9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2060.22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0.7725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2769.98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0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1968.41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0.7106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2" name="textbox 232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电力（城东院区）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table 240"/>
          <p:cNvGraphicFramePr>
            <a:graphicFrameLocks noGrp="1"/>
          </p:cNvGraphicFramePr>
          <p:nvPr/>
        </p:nvGraphicFramePr>
        <p:xfrm>
          <a:off x="840739" y="955675"/>
          <a:ext cx="10509250" cy="4933950"/>
        </p:xfrm>
        <a:graphic>
          <a:graphicData uri="http://schemas.openxmlformats.org/drawingml/2006/table">
            <a:tbl>
              <a:tblPr/>
              <a:tblGrid>
                <a:gridCol w="946150"/>
                <a:gridCol w="1089660"/>
                <a:gridCol w="977264"/>
                <a:gridCol w="1127760"/>
                <a:gridCol w="1118235"/>
                <a:gridCol w="1005839"/>
                <a:gridCol w="1146175"/>
                <a:gridCol w="1146810"/>
                <a:gridCol w="920750"/>
                <a:gridCol w="1030605"/>
              </a:tblGrid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543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392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3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77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2024年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8610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925" indent="-3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3680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795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3530" indent="-3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8285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685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indent="-3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740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725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9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52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2.53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9.67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11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3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06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7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12.63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24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3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7.42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7.69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13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4.51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17.29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7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2.48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9.46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7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5.53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21.12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24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6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2.52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9.63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8.80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05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60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3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0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52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2.47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3.09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11.80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2.62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11.93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3.52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13.46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7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3.20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3.40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3.47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13.27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11.35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3.16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11.16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52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11.99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10.65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52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2.67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10.20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8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2.65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8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3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107.01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67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32.94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59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125.83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3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37.69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33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144.04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2" name="textbox 242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给水（城东院区）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559434" y="967104"/>
          <a:ext cx="11430000" cy="5125719"/>
        </p:xfrm>
        <a:graphic>
          <a:graphicData uri="http://schemas.openxmlformats.org/drawingml/2006/table">
            <a:tbl>
              <a:tblPr/>
              <a:tblGrid>
                <a:gridCol w="735965"/>
                <a:gridCol w="1205230"/>
                <a:gridCol w="1165225"/>
                <a:gridCol w="1205230"/>
                <a:gridCol w="1276350"/>
                <a:gridCol w="1094105"/>
                <a:gridCol w="1226185"/>
                <a:gridCol w="1235710"/>
                <a:gridCol w="1054100"/>
                <a:gridCol w="1231900"/>
              </a:tblGrid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02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年代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297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05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987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2024年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00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7345" algn="l" rtl="0" eaLnBrk="0">
                        <a:lnSpc>
                          <a:spcPts val="168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（万m³</a:t>
                      </a:r>
                      <a:r>
                        <a:rPr sz="12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258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27025" algn="l" rtl="0" eaLnBrk="0">
                        <a:lnSpc>
                          <a:spcPts val="1680"/>
                        </a:lnSpc>
                      </a:pPr>
                      <a:r>
                        <a:rPr sz="1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02895" algn="l" rtl="0" eaLnBrk="0">
                        <a:lnSpc>
                          <a:spcPts val="1680"/>
                        </a:lnSpc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（元/m³</a:t>
                      </a:r>
                      <a:r>
                        <a:rPr sz="1300" kern="0" spc="-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0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83540" algn="l" rtl="0" eaLnBrk="0">
                        <a:lnSpc>
                          <a:spcPts val="168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（万m³</a:t>
                      </a:r>
                      <a:r>
                        <a:rPr sz="12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1465" indent="-3810" algn="l" rtl="0" eaLnBrk="0">
                        <a:lnSpc>
                          <a:spcPct val="109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3690" algn="l" rtl="0" eaLnBrk="0">
                        <a:lnSpc>
                          <a:spcPts val="1680"/>
                        </a:lnSpc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（元/m³</a:t>
                      </a:r>
                      <a:r>
                        <a:rPr sz="1300" kern="0" spc="-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87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63220" algn="l" rtl="0" eaLnBrk="0">
                        <a:lnSpc>
                          <a:spcPts val="168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（万m³</a:t>
                      </a:r>
                      <a:r>
                        <a:rPr sz="12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780" indent="-3810" algn="l" rtl="0" eaLnBrk="0">
                        <a:lnSpc>
                          <a:spcPct val="109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燃气费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3690" algn="l" rtl="0" eaLnBrk="0">
                        <a:lnSpc>
                          <a:spcPts val="1680"/>
                        </a:lnSpc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（元/m³</a:t>
                      </a:r>
                      <a:r>
                        <a:rPr sz="1300" kern="0" spc="-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2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6540" algn="l" rtl="0" eaLnBrk="0">
                        <a:lnSpc>
                          <a:spcPct val="84000"/>
                        </a:lnSpc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2.2454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30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2.0217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7.86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449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2.624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9.81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745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2.2343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30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2.0831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2.3487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8.78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9415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1.848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5.21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30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2.0001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2.3899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2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257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1.1908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30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1.9101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7.43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2.0425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1.8932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6.81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5610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1.913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7.44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1.9337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110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1.7681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1.5758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09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1.7775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6.65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650" algn="l" rtl="0" eaLnBrk="0">
                        <a:lnSpc>
                          <a:spcPct val="84000"/>
                        </a:lnSpc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1.8637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6.71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1.6345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5290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1.678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1.6559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1.6805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1.6785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2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475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1.6553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5610" algn="l" rtl="0" eaLnBrk="0">
                        <a:lnSpc>
                          <a:spcPct val="84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6.13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1.6964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4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1.8861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1.8658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1.9406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4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1.8951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65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116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1.8811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973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7.03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2.0217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84000"/>
                        </a:lnSpc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2.1112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148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2.2255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55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8.32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2.3545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8.80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972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22.2471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2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75.37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22.4302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10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85.36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24.486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2420" algn="l" rtl="0" eaLnBrk="0">
                        <a:lnSpc>
                          <a:spcPct val="84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91.55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2" name="textbox 252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燃气（城东院区）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9308" y="969263"/>
            <a:ext cx="4960620" cy="2598420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21908" y="1130808"/>
            <a:ext cx="5282183" cy="2354579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9308" y="3852671"/>
            <a:ext cx="4960620" cy="1993391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75219" y="3852671"/>
            <a:ext cx="2705100" cy="2287524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946962" y="283946"/>
            <a:ext cx="4854575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table 276"/>
          <p:cNvGraphicFramePr>
            <a:graphicFrameLocks noGrp="1"/>
          </p:cNvGraphicFramePr>
          <p:nvPr/>
        </p:nvGraphicFramePr>
        <p:xfrm>
          <a:off x="486727" y="949325"/>
          <a:ext cx="11217910" cy="5005070"/>
        </p:xfrm>
        <a:graphic>
          <a:graphicData uri="http://schemas.openxmlformats.org/drawingml/2006/table">
            <a:tbl>
              <a:tblPr/>
              <a:tblGrid>
                <a:gridCol w="721994"/>
                <a:gridCol w="1183639"/>
                <a:gridCol w="1143000"/>
                <a:gridCol w="1183640"/>
                <a:gridCol w="1252855"/>
                <a:gridCol w="1073785"/>
                <a:gridCol w="1202690"/>
                <a:gridCol w="1213485"/>
                <a:gridCol w="1033780"/>
                <a:gridCol w="1209039"/>
              </a:tblGrid>
              <a:tr h="32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04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年代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669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62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668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2024年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2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2100" indent="406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6230" indent="1041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06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47650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indent="406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305" indent="1041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021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57175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705" indent="406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用电量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（万KWH）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1620" indent="104140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电费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021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57175" algn="l" rtl="0" eaLnBrk="0">
                        <a:lnSpc>
                          <a:spcPct val="90000"/>
                        </a:lnSpc>
                        <a:spcBef>
                          <a:spcPts val="255"/>
                        </a:spcBef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（元/kWh）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95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61.188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95.72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1.5644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6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61.134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39.64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0.6484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60.072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35.16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0.5852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7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2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55.746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8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90.33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1.6203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56.142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37.89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0.6748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52.446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37.15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62.982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79.64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1.2645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59.604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39.27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0.6588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59.412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40.38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55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64.338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94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0.9192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6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62.058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39.47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0.6360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67.296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46.33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86.772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110.10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1.2689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0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91.038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25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0.6675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76.08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51.77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1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107.622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155.00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1.4402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115.206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1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79.72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0.6920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9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103.182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89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66.65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0.6460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6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134.382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190.08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1.4145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120.732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9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83.68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0.6931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9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128.418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2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87.73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0.6832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134.292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190.99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1.4222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123.198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9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88.51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0.7184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9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124.782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2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85.88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116.166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177.86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1.5310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114.048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9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82.73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0.7254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94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54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79.93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0.7056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84.354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151.09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1.7911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0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89.622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25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64.67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0.7215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34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87.366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59.34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0.6792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65.214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130.65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2.0034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2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70.194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48.54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0.6915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58.848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40.22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8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62.37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44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107.87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1.7295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766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62.982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0.7139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50.886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8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35.05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0.6888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177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590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1035.426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00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1538.46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80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1.4858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1025.958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06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709.83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0.6919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8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982.068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84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665.59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8" name="textbox 278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电力（东街院区）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table 286"/>
          <p:cNvGraphicFramePr>
            <a:graphicFrameLocks noGrp="1"/>
          </p:cNvGraphicFramePr>
          <p:nvPr/>
        </p:nvGraphicFramePr>
        <p:xfrm>
          <a:off x="831850" y="967740"/>
          <a:ext cx="10509250" cy="5234939"/>
        </p:xfrm>
        <a:graphic>
          <a:graphicData uri="http://schemas.openxmlformats.org/drawingml/2006/table">
            <a:tbl>
              <a:tblPr/>
              <a:tblGrid>
                <a:gridCol w="946150"/>
                <a:gridCol w="1090295"/>
                <a:gridCol w="977265"/>
                <a:gridCol w="1127760"/>
                <a:gridCol w="1118235"/>
                <a:gridCol w="1005840"/>
                <a:gridCol w="1146175"/>
                <a:gridCol w="1146810"/>
                <a:gridCol w="920750"/>
                <a:gridCol w="1029969"/>
              </a:tblGrid>
              <a:tr h="3409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543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年代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3921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2022年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668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714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2024年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861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925" indent="-3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3045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160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895" indent="-3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650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325" algn="l" rtl="0" eaLnBrk="0">
                        <a:lnSpc>
                          <a:spcPct val="84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8135" algn="l" rtl="0" eaLnBrk="0">
                        <a:lnSpc>
                          <a:spcPts val="1680"/>
                        </a:lnSpc>
                      </a:pPr>
                      <a:r>
                        <a:rPr sz="1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（万吨）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indent="8572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（万元）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indent="130175" algn="l" rtl="0" eaLnBrk="0">
                        <a:lnSpc>
                          <a:spcPct val="109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水费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（元/吨）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9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3.3669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12.69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8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4.1308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15.59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5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2.2396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8.44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11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3.2763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12.35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78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4.0923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15.43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1.8842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33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242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702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2.9864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11.26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671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3.798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14.32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1.2602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4.75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3.4088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2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3.3263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08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1.579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27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5.95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242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3.3379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12.58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26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3.2723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12.34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5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2.1325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052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3.5194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13.27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9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2.0427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0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2.287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8.62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0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3.6236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13.66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2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1.939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7.31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5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2.1504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3.9945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9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2.0787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7.84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5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2.3776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8.96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38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4.1213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62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1.869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7.05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5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2.2406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1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8.45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3.9891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15.04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78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1.8173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337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6.85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1.6339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8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6.16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38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4.0341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15.21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9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2.3314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8.79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1.6533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8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3.8139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14.38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09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2.2651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8.54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1.3289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27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5.01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9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汇总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939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43.4722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30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163.90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2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32.9629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590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124.28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22.7672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74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85.83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41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3.77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8" name="textbox 288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7218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给水（东街院区）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52984" y="1219200"/>
            <a:ext cx="5742432" cy="2540508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46747" y="1124711"/>
            <a:ext cx="5074919" cy="2639567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71288" y="3895343"/>
            <a:ext cx="2810255" cy="2528316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946962" y="283946"/>
            <a:ext cx="4854575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历年用能水平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汇总（东街院区）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4"/>
          <p:cNvSpPr/>
          <p:nvPr/>
        </p:nvSpPr>
        <p:spPr>
          <a:xfrm>
            <a:off x="6050089" y="2831776"/>
            <a:ext cx="5615940" cy="680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350" algn="l" rtl="0" eaLnBrk="0">
              <a:lnSpc>
                <a:spcPct val="87000"/>
              </a:lnSpc>
              <a:spcBef>
                <a:spcPts val="0"/>
              </a:spcBef>
              <a:tabLst>
                <a:tab pos="1375410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用能系统现状分析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320"/>
          <p:cNvSpPr/>
          <p:nvPr/>
        </p:nvSpPr>
        <p:spPr>
          <a:xfrm>
            <a:off x="6958200" y="1648802"/>
            <a:ext cx="4817745" cy="336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能源中心空调系统主要供应门诊楼及住院楼。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6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制冷机房设置3台开利850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离心式冷水机组+1台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0" indent="-3810" algn="l" rtl="0" eaLnBrk="0">
              <a:lnSpc>
                <a:spcPct val="215000"/>
              </a:lnSpc>
              <a:spcBef>
                <a:spcPts val="20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430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螺杆式冷水机组，并配套冷冻泵、冷却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泵各5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台，冷却塔位于住院楼屋面，3大1小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，与制冷主机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一一对应。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日常运行中，</a:t>
            </a:r>
            <a:r>
              <a:rPr sz="15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白天大部分时间开启2台大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离心机组，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夜间1台大离心机运行，冷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却塔日常全开。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96411" y="3584447"/>
            <a:ext cx="2906267" cy="2176272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17748" y="1211580"/>
            <a:ext cx="2884932" cy="2176271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9371" y="3584447"/>
            <a:ext cx="2759964" cy="2176272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2900" y="1211580"/>
            <a:ext cx="2727960" cy="2176271"/>
          </a:xfrm>
          <a:prstGeom prst="rect">
            <a:avLst/>
          </a:prstGeom>
        </p:spPr>
      </p:pic>
      <p:sp>
        <p:nvSpPr>
          <p:cNvPr id="332" name="textbox 332"/>
          <p:cNvSpPr/>
          <p:nvPr/>
        </p:nvSpPr>
        <p:spPr>
          <a:xfrm>
            <a:off x="962202" y="283946"/>
            <a:ext cx="54489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能源中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7794" y="284480"/>
            <a:ext cx="19050" cy="59245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picture 3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4127" y="864108"/>
            <a:ext cx="4786883" cy="4962144"/>
          </a:xfrm>
          <a:prstGeom prst="rect">
            <a:avLst/>
          </a:prstGeom>
        </p:spPr>
      </p:pic>
      <p:sp>
        <p:nvSpPr>
          <p:cNvPr id="342" name="textbox 342"/>
          <p:cNvSpPr/>
          <p:nvPr/>
        </p:nvSpPr>
        <p:spPr>
          <a:xfrm>
            <a:off x="6958200" y="1064601"/>
            <a:ext cx="4643754" cy="434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6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设备上，</a:t>
            </a:r>
            <a:r>
              <a:rPr sz="15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由于主机、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水泵设备均使用时间较长，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9560" indent="8255" algn="l" rtl="0" eaLnBrk="0">
              <a:lnSpc>
                <a:spcPct val="215000"/>
              </a:lnSpc>
              <a:spcBef>
                <a:spcPts val="0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多数设备接近15年，</a:t>
            </a:r>
            <a:r>
              <a:rPr sz="1500" kern="0" spc="-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已基本达到设备经济使用年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限，整体系统运行能效较低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，稳定性差，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日常维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护成本较高。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运行上，各台水泵均设置变频配置，水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泵长时间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635" algn="l" rtl="0" eaLnBrk="0">
              <a:lnSpc>
                <a:spcPct val="216000"/>
              </a:lnSpc>
              <a:spcBef>
                <a:spcPts val="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运行在45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Hz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左右，并未根据末端负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荷调节，水泵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及冷却塔等运行能耗较高。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控制上，设备启停均通过人工手动控制，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据末端及室外天气变化及时灵活调节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962202" y="283946"/>
            <a:ext cx="54489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能源中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2836265" y="5888583"/>
            <a:ext cx="1165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机房平面图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87794" y="284480"/>
            <a:ext cx="19050" cy="59245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6"/>
          <p:cNvSpPr/>
          <p:nvPr/>
        </p:nvSpPr>
        <p:spPr>
          <a:xfrm>
            <a:off x="6958200" y="1051901"/>
            <a:ext cx="4716145" cy="434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1500" kern="0" spc="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同心楼空调系统主要供应同心楼门诊及住院区域，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indent="-7620" algn="l" rtl="0" eaLnBrk="0">
              <a:lnSpc>
                <a:spcPct val="215000"/>
              </a:lnSpc>
              <a:spcBef>
                <a:spcPts val="3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仅夏季供冷，机房设置了蒸汽换热系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统，但冬季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空调采暖基本不开启。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当前使用的为2台开利640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定频离心式冷水机组，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14605" algn="l" rtl="0" eaLnBrk="0">
              <a:lnSpc>
                <a:spcPct val="216000"/>
              </a:lnSpc>
              <a:spcBef>
                <a:spcPts val="40"/>
              </a:spcBef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1台开利680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变频离心式冷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水机组，并配套有冷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冻泵、冷却泵各4台，冷却塔位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于3#楼屋面，共3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8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日常开启1台变频离心式冷水机组即可满足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0355" algn="l" rtl="0" eaLnBrk="0">
              <a:lnSpc>
                <a:spcPts val="3730"/>
              </a:lnSpc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需求，3台冷却塔常开。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9371" y="3421379"/>
            <a:ext cx="2903220" cy="2369820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80232" y="3421379"/>
            <a:ext cx="2903220" cy="2348484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80232" y="1088135"/>
            <a:ext cx="2903220" cy="2176272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9371" y="1088135"/>
            <a:ext cx="2903220" cy="2162555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962202" y="283946"/>
            <a:ext cx="51441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同心楼（城东院区）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7794" y="284480"/>
            <a:ext cx="19050" cy="59245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picture 3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33272" y="731519"/>
            <a:ext cx="4927092" cy="5102352"/>
          </a:xfrm>
          <a:prstGeom prst="rect">
            <a:avLst/>
          </a:prstGeom>
        </p:spPr>
      </p:pic>
      <p:sp>
        <p:nvSpPr>
          <p:cNvPr id="378" name="textbox 378"/>
          <p:cNvSpPr/>
          <p:nvPr/>
        </p:nvSpPr>
        <p:spPr>
          <a:xfrm>
            <a:off x="6958200" y="1146516"/>
            <a:ext cx="4643754" cy="434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设备上，3台冷水机组约5年时间，设备运行状态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1270" algn="l" rtl="0" eaLnBrk="0">
              <a:lnSpc>
                <a:spcPct val="215000"/>
              </a:lnSpc>
              <a:spcBef>
                <a:spcPts val="1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较好。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日常冷冻水、冷却水供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回水温差较小，在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2.5~3℃之间，存在一定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的“大马拉小车</a:t>
            </a:r>
            <a:r>
              <a:rPr sz="1500" kern="0" spc="-4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”的情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况。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运行上，各水泵无变频控制，冷冻水泵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、冷却水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635" algn="l" rtl="0" eaLnBrk="0">
              <a:lnSpc>
                <a:spcPct val="216000"/>
              </a:lnSpc>
              <a:spcBef>
                <a:spcPts val="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泵、冷却塔均工频运行。因此缺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少变频控制将导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致水泵运行能耗过高。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控制上，设备启停均通过人工手动控制，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据末端及室外天气变化及时灵活调节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962202" y="283946"/>
            <a:ext cx="51441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同心楼（城东院区）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2915627" y="5917793"/>
            <a:ext cx="1165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机房平面图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87794" y="284480"/>
            <a:ext cx="19050" cy="59245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3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08659" y="819911"/>
            <a:ext cx="3247643" cy="2438400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8390535" y="4076051"/>
            <a:ext cx="3280409" cy="2449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7520" algn="l" rtl="0" eaLnBrk="0">
              <a:lnSpc>
                <a:spcPct val="89000"/>
              </a:lnSpc>
            </a:pP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能源中心制冷机房冷冻水泵、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" indent="-1270" algn="l" rtl="0" eaLnBrk="0">
              <a:lnSpc>
                <a:spcPct val="165000"/>
              </a:lnSpc>
              <a:spcBef>
                <a:spcPts val="3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冷却水泵已设置变频控制，但常年运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行在45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Hz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，没有发挥变频功能。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476885" algn="l" rtl="0" eaLnBrk="0">
              <a:lnSpc>
                <a:spcPct val="159000"/>
              </a:lnSpc>
              <a:spcBef>
                <a:spcPts val="75"/>
              </a:spcBef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同心楼制冷系统均未设置变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频，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各系统单日、季节性负荷变化大，无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变频设置难以应对负荷变化，提升节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能效果。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96" name="picture 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41520" y="818388"/>
            <a:ext cx="3179064" cy="2385059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88680" y="818388"/>
            <a:ext cx="3076956" cy="2385059"/>
          </a:xfrm>
          <a:prstGeom prst="rect">
            <a:avLst/>
          </a:prstGeom>
        </p:spPr>
      </p:pic>
      <p:sp>
        <p:nvSpPr>
          <p:cNvPr id="400" name="textbox 400"/>
          <p:cNvSpPr/>
          <p:nvPr/>
        </p:nvSpPr>
        <p:spPr>
          <a:xfrm>
            <a:off x="4599584" y="4076051"/>
            <a:ext cx="3069589" cy="2449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能源中心冷却塔设置3大1小，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34290" algn="l" rtl="0" eaLnBrk="0">
              <a:lnSpc>
                <a:spcPct val="162000"/>
              </a:lnSpc>
              <a:spcBef>
                <a:spcPts val="6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日常冷却塔均开启，但大塔与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小塔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之间积水盘未在同一水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平位置，导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致处于较低水位的小塔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长时间在补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水的状态。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476885" algn="l" rtl="0" eaLnBrk="0">
              <a:lnSpc>
                <a:spcPct val="158000"/>
              </a:lnSpc>
              <a:spcBef>
                <a:spcPts val="75"/>
              </a:spcBef>
            </a:pP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同心楼制冷系统整体较新</a:t>
            </a:r>
            <a:r>
              <a:rPr sz="1500" kern="0" spc="-4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运行较良好，维保正常。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2" name="textbox 402"/>
          <p:cNvSpPr/>
          <p:nvPr/>
        </p:nvSpPr>
        <p:spPr>
          <a:xfrm>
            <a:off x="802196" y="4076051"/>
            <a:ext cx="3069589" cy="2083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1500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能源中心制冷机房设备使用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875" indent="5715" algn="l" rtl="0" eaLnBrk="0">
              <a:lnSpc>
                <a:spcPct val="165000"/>
              </a:lnSpc>
              <a:spcBef>
                <a:spcPts val="20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时间较长，设备老化较严重，设备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维护成本、能耗较高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476885" algn="l" rtl="0" eaLnBrk="0">
              <a:lnSpc>
                <a:spcPct val="159000"/>
              </a:lnSpc>
              <a:spcBef>
                <a:spcPts val="60"/>
              </a:spcBef>
            </a:pP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同心楼制冷机房设备较新</a:t>
            </a:r>
            <a:r>
              <a:rPr sz="15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设备使用时间不长，设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备运行状况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较良好。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962202" y="283946"/>
            <a:ext cx="48393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2" name="textbox 412"/>
          <p:cNvSpPr/>
          <p:nvPr/>
        </p:nvSpPr>
        <p:spPr>
          <a:xfrm>
            <a:off x="5664936" y="3426307"/>
            <a:ext cx="93662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维保层面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4" name="textbox 414"/>
          <p:cNvSpPr/>
          <p:nvPr/>
        </p:nvSpPr>
        <p:spPr>
          <a:xfrm>
            <a:off x="9562210" y="3395827"/>
            <a:ext cx="93598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1870290" y="3426307"/>
            <a:ext cx="93408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设备层面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18" name="picture 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0557" y="3859212"/>
            <a:ext cx="110299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420"/>
          <p:cNvSpPr/>
          <p:nvPr/>
        </p:nvSpPr>
        <p:spPr>
          <a:xfrm>
            <a:off x="6958200" y="1923121"/>
            <a:ext cx="4643754" cy="2891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门诊医技楼空调系统主要供应门诊医技大楼门诊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3730"/>
              </a:lnSpc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及手术室等空调。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机房设置了2台约550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克莱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门特冷水机组，4台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830" algn="l" rtl="0" eaLnBrk="0">
              <a:lnSpc>
                <a:spcPct val="216000"/>
              </a:lnSpc>
              <a:spcBef>
                <a:spcPts val="20"/>
              </a:spcBef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冷冻水泵（2大2小）</a:t>
            </a:r>
            <a:r>
              <a:rPr sz="1500" kern="0" spc="-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、3台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冷却水泵、两台免风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冷却塔。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1500" kern="0" spc="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日常开启1台冷水机组及2台冷却塔。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22" name="picture 4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9371" y="3429000"/>
            <a:ext cx="2903220" cy="2324100"/>
          </a:xfrm>
          <a:prstGeom prst="rect">
            <a:avLst/>
          </a:prstGeom>
        </p:spPr>
      </p:pic>
      <p:pic>
        <p:nvPicPr>
          <p:cNvPr id="424" name="picture 4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60420" y="3429000"/>
            <a:ext cx="2903220" cy="2324100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80232" y="1092707"/>
            <a:ext cx="2903220" cy="2162555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9371" y="1104900"/>
            <a:ext cx="2903220" cy="2133600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962202" y="283946"/>
            <a:ext cx="60585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门诊医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技大楼（东街院区）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7794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picture 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95755" y="912875"/>
            <a:ext cx="4771644" cy="4948428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>
            <a:off x="6904859" y="1629752"/>
            <a:ext cx="4643754" cy="336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设备上，机房整体建设在2000年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左右，大部分设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9560" indent="1270" algn="l" rtl="0" eaLnBrk="0">
              <a:lnSpc>
                <a:spcPct val="215000"/>
              </a:lnSpc>
              <a:spcBef>
                <a:spcPts val="30"/>
              </a:spcBef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备使用时间已接近25年，均已超设备的设计使用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年限，机房整体运行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能效较低。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运行上，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日常开启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1台冷水机组，2台直流免风冷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337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却塔，冷却塔散热能力较差，且漂水率较大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控制上，设备启停均通过人工手动控制，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据末端及室外天气变化及时灵活调节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962202" y="283946"/>
            <a:ext cx="60585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门诊医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技大楼（东街院区）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textbox 452"/>
          <p:cNvSpPr/>
          <p:nvPr/>
        </p:nvSpPr>
        <p:spPr>
          <a:xfrm>
            <a:off x="2900565" y="5934709"/>
            <a:ext cx="1165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机房平面图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4" name="picture 4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87794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box 456"/>
          <p:cNvSpPr/>
          <p:nvPr/>
        </p:nvSpPr>
        <p:spPr>
          <a:xfrm>
            <a:off x="6958200" y="2149816"/>
            <a:ext cx="4643754" cy="2390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7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1号住院楼空调系统主要供应住院部1号楼。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机房设置了2台约450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RT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开利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冷水机组，2台冷冻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1465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水泵、2台冷却水泵、2台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圆形逆流式冷却塔。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日常开启1台冷水机组及2台冷却塔，可满足末端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7180" algn="l" rtl="0" eaLnBrk="0">
              <a:lnSpc>
                <a:spcPts val="373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负荷需求。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81940" y="3425952"/>
            <a:ext cx="2930651" cy="2311907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60420" y="3429000"/>
            <a:ext cx="2903220" cy="2311908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60420" y="1098804"/>
            <a:ext cx="2903220" cy="2138171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9371" y="1104900"/>
            <a:ext cx="2903220" cy="2133600"/>
          </a:xfrm>
          <a:prstGeom prst="rect">
            <a:avLst/>
          </a:prstGeom>
        </p:spPr>
      </p:pic>
      <p:sp>
        <p:nvSpPr>
          <p:cNvPr id="468" name="textbox 468"/>
          <p:cNvSpPr/>
          <p:nvPr/>
        </p:nvSpPr>
        <p:spPr>
          <a:xfrm>
            <a:off x="962202" y="283946"/>
            <a:ext cx="5618479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——1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号住院楼（东街院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4" name="picture 4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7794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4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13688" y="900683"/>
            <a:ext cx="4736591" cy="4904232"/>
          </a:xfrm>
          <a:prstGeom prst="rect">
            <a:avLst/>
          </a:prstGeom>
        </p:spPr>
      </p:pic>
      <p:sp>
        <p:nvSpPr>
          <p:cNvPr id="478" name="textbox 478"/>
          <p:cNvSpPr/>
          <p:nvPr/>
        </p:nvSpPr>
        <p:spPr>
          <a:xfrm>
            <a:off x="6958200" y="1957411"/>
            <a:ext cx="4732020" cy="336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设备上，机房整体建设在1997年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左右，大部分设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9560" indent="1270" algn="l" rtl="0" eaLnBrk="0">
              <a:lnSpc>
                <a:spcPct val="215000"/>
              </a:lnSpc>
              <a:spcBef>
                <a:spcPts val="30"/>
              </a:spcBef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备使用时间已超过25年，均已超设备的设计使用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年限，机房整体运行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能效较低。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运行上，现勘时发现，制冷主机噪音出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现一定异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ts val="373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常情况，反映出机组内部已老化并存在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一定问题。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控制上，设备启停均通过人工手动控制，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据末端及室外天气变化及时灵活调节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0" name="textbox 480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742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——1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号住院楼（东街院区）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8" name="textbox 488"/>
          <p:cNvSpPr/>
          <p:nvPr/>
        </p:nvSpPr>
        <p:spPr>
          <a:xfrm>
            <a:off x="3099866" y="5917793"/>
            <a:ext cx="116586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机房平面图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0" name="picture 4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87794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picture 4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412480" y="818387"/>
            <a:ext cx="3229356" cy="2407920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0184" y="844295"/>
            <a:ext cx="3246120" cy="2383536"/>
          </a:xfrm>
          <a:prstGeom prst="rect">
            <a:avLst/>
          </a:prstGeom>
        </p:spPr>
      </p:pic>
      <p:sp>
        <p:nvSpPr>
          <p:cNvPr id="496" name="textbox 496"/>
          <p:cNvSpPr/>
          <p:nvPr/>
        </p:nvSpPr>
        <p:spPr>
          <a:xfrm>
            <a:off x="803059" y="4076051"/>
            <a:ext cx="3220085" cy="2449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2760" algn="l" rtl="0" eaLnBrk="0">
              <a:lnSpc>
                <a:spcPct val="89000"/>
              </a:lnSpc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门诊医技大楼、1号住院楼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1270" algn="l" rtl="0" eaLnBrk="0">
              <a:lnSpc>
                <a:spcPct val="163000"/>
              </a:lnSpc>
              <a:spcBef>
                <a:spcPts val="4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调设备使用时间长，设备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老化严重，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设备维护成本高、能效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差、运行安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全稳定性差。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indent="462280" algn="l" rtl="0" eaLnBrk="0">
              <a:lnSpc>
                <a:spcPct val="159000"/>
              </a:lnSpc>
              <a:spcBef>
                <a:spcPts val="55"/>
              </a:spcBef>
            </a:pPr>
            <a:r>
              <a:rPr sz="1500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东街院区的两个制冷机房空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调主机及水泵、冷却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塔等设备使用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时间已达设计使用年限。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8" name="picture 4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44567" y="818387"/>
            <a:ext cx="3171444" cy="2407920"/>
          </a:xfrm>
          <a:prstGeom prst="rect">
            <a:avLst/>
          </a:prstGeom>
        </p:spPr>
      </p:pic>
      <p:sp>
        <p:nvSpPr>
          <p:cNvPr id="500" name="textbox 500"/>
          <p:cNvSpPr/>
          <p:nvPr/>
        </p:nvSpPr>
        <p:spPr>
          <a:xfrm>
            <a:off x="4599584" y="4076051"/>
            <a:ext cx="3069589" cy="2449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1500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冷却塔等设备日常维保不到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-635" algn="l" rtl="0" eaLnBrk="0">
              <a:lnSpc>
                <a:spcPct val="164000"/>
              </a:lnSpc>
              <a:spcBef>
                <a:spcPts val="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位，冷却塔结垢情况明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显、冷却水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飘水、漏损情况较多，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冷却塔的散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热性能差。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indent="478790" algn="l" rtl="0" eaLnBrk="0">
              <a:lnSpc>
                <a:spcPct val="159000"/>
              </a:lnSpc>
              <a:spcBef>
                <a:spcPts val="50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门诊医技大楼及1号住院楼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制冷系统维保环境较差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，影响系统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正常运行。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8390535" y="4076051"/>
            <a:ext cx="3280409" cy="986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门诊医技大楼及1号住院楼的空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1270" algn="l" rtl="0" eaLnBrk="0">
              <a:lnSpc>
                <a:spcPct val="165000"/>
              </a:lnSpc>
              <a:spcBef>
                <a:spcPts val="3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调冷水机组、水泵、冷却塔风机设备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较为老旧，均为手动控制。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962202" y="283946"/>
            <a:ext cx="4839334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汇总（东街院区）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5664936" y="3426307"/>
            <a:ext cx="93662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维保层面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9562210" y="3395827"/>
            <a:ext cx="93598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1871154" y="3426307"/>
            <a:ext cx="93408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设备层面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18" name="picture 5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0557" y="3859212"/>
            <a:ext cx="110299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picture 5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39723" y="734567"/>
            <a:ext cx="4971288" cy="2901696"/>
          </a:xfrm>
          <a:prstGeom prst="rect">
            <a:avLst/>
          </a:prstGeom>
        </p:spPr>
      </p:pic>
      <p:sp>
        <p:nvSpPr>
          <p:cNvPr id="522" name="textbox 522"/>
          <p:cNvSpPr/>
          <p:nvPr/>
        </p:nvSpPr>
        <p:spPr>
          <a:xfrm>
            <a:off x="6593709" y="1759291"/>
            <a:ext cx="5064125" cy="287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为满足医院门诊楼及住院楼供应室、生活热水、空调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7655" indent="635" algn="l" rtl="0" eaLnBrk="0">
              <a:lnSpc>
                <a:spcPct val="216000"/>
              </a:lnSpc>
              <a:spcBef>
                <a:spcPts val="5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采暖的热源需求。城东院区能源中心建有锅炉房，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置2台4t/h的蒸汽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锅炉。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该蒸汽锅炉使用时间相对较长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，为2012年生产。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目前伴随设备老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化，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日常维护成本逐步增加，加之特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种设备属性，安全保障上存在一定压力。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24" name="picture 5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64408" y="3840479"/>
            <a:ext cx="2546603" cy="1898904"/>
          </a:xfrm>
          <a:prstGeom prst="rect">
            <a:avLst/>
          </a:prstGeom>
        </p:spPr>
      </p:pic>
      <p:pic>
        <p:nvPicPr>
          <p:cNvPr id="526" name="picture 5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9723" y="3840479"/>
            <a:ext cx="2203704" cy="1898904"/>
          </a:xfrm>
          <a:prstGeom prst="rect">
            <a:avLst/>
          </a:prstGeom>
        </p:spPr>
      </p:pic>
      <p:sp>
        <p:nvSpPr>
          <p:cNvPr id="530" name="textbox 530"/>
          <p:cNvSpPr/>
          <p:nvPr/>
        </p:nvSpPr>
        <p:spPr>
          <a:xfrm>
            <a:off x="944829" y="283946"/>
            <a:ext cx="4857115" cy="427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65"/>
              </a:lnSpc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蒸汽系统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能源中心（城东院区）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39180" y="625640"/>
            <a:ext cx="19050" cy="55979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picture 5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1563" y="3429000"/>
            <a:ext cx="5556503" cy="2795015"/>
          </a:xfrm>
          <a:prstGeom prst="rect">
            <a:avLst/>
          </a:prstGeom>
        </p:spPr>
      </p:pic>
      <p:sp>
        <p:nvSpPr>
          <p:cNvPr id="540" name="textbox 540"/>
          <p:cNvSpPr/>
          <p:nvPr/>
        </p:nvSpPr>
        <p:spPr>
          <a:xfrm>
            <a:off x="6407655" y="2019641"/>
            <a:ext cx="5325745" cy="2802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在同心楼6层裙房屋面及23层塔楼屋面设置共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10台空气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1905" algn="l" rtl="0" eaLnBrk="0">
              <a:lnSpc>
                <a:spcPct val="216000"/>
              </a:lnSpc>
              <a:spcBef>
                <a:spcPts val="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源热泵机组，每台制热量77.12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kW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，为同心楼全天供应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生活热水。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4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设备出厂日期均在2019年左右，整体而言设备状态良好，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0355" indent="8255" algn="l" rtl="0" eaLnBrk="0">
              <a:lnSpc>
                <a:spcPct val="216000"/>
              </a:lnSpc>
              <a:spcBef>
                <a:spcPts val="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同时考虑到实际用水量，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目前的热泵设置可以满足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42" name="picture 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33344" y="1167384"/>
            <a:ext cx="2766060" cy="2022347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1563" y="1168908"/>
            <a:ext cx="2668523" cy="2025395"/>
          </a:xfrm>
          <a:prstGeom prst="rect">
            <a:avLst/>
          </a:prstGeom>
        </p:spPr>
      </p:pic>
      <p:sp>
        <p:nvSpPr>
          <p:cNvPr id="548" name="textbox 548"/>
          <p:cNvSpPr/>
          <p:nvPr/>
        </p:nvSpPr>
        <p:spPr>
          <a:xfrm>
            <a:off x="949706" y="284860"/>
            <a:ext cx="5099684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435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生活热水系统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热泵热水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城东院区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54" name="picture 5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2834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box 556"/>
          <p:cNvSpPr/>
          <p:nvPr/>
        </p:nvSpPr>
        <p:spPr>
          <a:xfrm>
            <a:off x="6958200" y="2411436"/>
            <a:ext cx="4643754" cy="1800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医院仍有保有部分荧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光灯具。属于老旧灯具，设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1465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备光效相对较差，且能耗相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对较高。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6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医院多数灯具已改造为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灯具，现勘中发现部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1465" algn="l" rtl="0" eaLnBrk="0">
              <a:lnSpc>
                <a:spcPts val="373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分灯具有损坏情况，没有及时完成维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修。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58" name="picture 5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73608" y="3592068"/>
            <a:ext cx="2831591" cy="2511551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28644" y="3592068"/>
            <a:ext cx="2764536" cy="2511551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608" y="1014984"/>
            <a:ext cx="2831591" cy="2441447"/>
          </a:xfrm>
          <a:prstGeom prst="rect">
            <a:avLst/>
          </a:prstGeom>
        </p:spPr>
      </p:pic>
      <p:pic>
        <p:nvPicPr>
          <p:cNvPr id="564" name="picture 5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37788" y="1014984"/>
            <a:ext cx="2747771" cy="2441447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>
            <a:off x="949706" y="347344"/>
            <a:ext cx="1238885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照明系统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4" name="picture 5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50761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box 576"/>
          <p:cNvSpPr/>
          <p:nvPr/>
        </p:nvSpPr>
        <p:spPr>
          <a:xfrm>
            <a:off x="6958200" y="1907881"/>
            <a:ext cx="4643754" cy="326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医院垂直电梯多为电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阻式散热，即电机在轿厢上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1270" algn="l" rtl="0" eaLnBrk="0">
              <a:lnSpc>
                <a:spcPct val="214000"/>
              </a:lnSpc>
              <a:spcBef>
                <a:spcPts val="5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升阶段耗电做功，在下降减速阶段，</a:t>
            </a:r>
            <a:r>
              <a:rPr sz="1500" kern="0" spc="-4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电机产生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额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外电量，该电量通过控制柜中电阻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将其转化为热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量，耗散至机房内，最终通过机房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内空调转移至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室外。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9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1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电梯运行中产生的热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量，造成了浪费，</a:t>
            </a:r>
            <a:r>
              <a:rPr sz="1500" kern="0" spc="-4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同时加开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algn="l" rtl="0" eaLnBrk="0">
              <a:lnSpc>
                <a:spcPts val="373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空调还额外增加了用电成本。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-12700" y="-12700"/>
            <a:ext cx="1170559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7000"/>
              </a:lnSpc>
              <a:spcBef>
                <a:spcPts val="0"/>
              </a:spcBef>
              <a:tabLst>
                <a:tab pos="98615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电梯系统                                                                </a:t>
            </a:r>
            <a:r>
              <a:rPr sz="2300" b="1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4" name="picture 5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958339" y="3531107"/>
            <a:ext cx="3078479" cy="2308860"/>
          </a:xfrm>
          <a:prstGeom prst="rect">
            <a:avLst/>
          </a:prstGeom>
        </p:spPr>
      </p:pic>
      <p:pic>
        <p:nvPicPr>
          <p:cNvPr id="586" name="picture 5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58339" y="818388"/>
            <a:ext cx="3078479" cy="2308859"/>
          </a:xfrm>
          <a:prstGeom prst="rect">
            <a:avLst/>
          </a:prstGeom>
        </p:spPr>
      </p:pic>
      <p:pic>
        <p:nvPicPr>
          <p:cNvPr id="590" name="picture 5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50761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box 592"/>
          <p:cNvSpPr/>
          <p:nvPr/>
        </p:nvSpPr>
        <p:spPr>
          <a:xfrm>
            <a:off x="6958200" y="1474811"/>
            <a:ext cx="4732020" cy="395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城东院区有两路市政进水，在能源中心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和同心楼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0" algn="l" rtl="0" eaLnBrk="0">
              <a:lnSpc>
                <a:spcPts val="373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设置有两座二次供水机房。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东街院区目前有两路市政进水管道，</a:t>
            </a:r>
            <a:r>
              <a:rPr sz="1500" kern="0" spc="-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内部设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置有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ts val="373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两座二次供水水池，部分建筑采用市政管道直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表具计量上，各院区无远传水表，城东院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区抄表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11785" algn="l" rtl="0" eaLnBrk="0">
              <a:lnSpc>
                <a:spcPts val="373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以人工抄表进行。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末端洁具上，东街院区的洁具情况不佳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，不满足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2100" algn="l" rtl="0" eaLnBrk="0">
              <a:lnSpc>
                <a:spcPts val="3730"/>
              </a:lnSpc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二级能效标准。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94" name="picture 59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0979" y="3651504"/>
            <a:ext cx="1732787" cy="2292095"/>
          </a:xfrm>
          <a:prstGeom prst="rect">
            <a:avLst/>
          </a:prstGeom>
        </p:spPr>
      </p:pic>
      <p:pic>
        <p:nvPicPr>
          <p:cNvPr id="596" name="picture 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0979" y="1136904"/>
            <a:ext cx="1732787" cy="2292095"/>
          </a:xfrm>
          <a:prstGeom prst="rect">
            <a:avLst/>
          </a:prstGeom>
        </p:spPr>
      </p:pic>
      <p:pic>
        <p:nvPicPr>
          <p:cNvPr id="598" name="picture 5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17420" y="3651504"/>
            <a:ext cx="1732787" cy="2292095"/>
          </a:xfrm>
          <a:prstGeom prst="rect">
            <a:avLst/>
          </a:prstGeom>
        </p:spPr>
      </p:pic>
      <p:pic>
        <p:nvPicPr>
          <p:cNvPr id="600" name="picture 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77867" y="3651504"/>
            <a:ext cx="1732787" cy="2292095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17420" y="1136904"/>
            <a:ext cx="1732787" cy="2292095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77867" y="1136904"/>
            <a:ext cx="1732787" cy="2292095"/>
          </a:xfrm>
          <a:prstGeom prst="rect">
            <a:avLst/>
          </a:prstGeom>
        </p:spPr>
      </p:pic>
      <p:sp>
        <p:nvSpPr>
          <p:cNvPr id="608" name="textbox 608"/>
          <p:cNvSpPr/>
          <p:nvPr/>
        </p:nvSpPr>
        <p:spPr>
          <a:xfrm>
            <a:off x="954582" y="346735"/>
            <a:ext cx="1843404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市政用水系统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4" name="picture 6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50761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picture 6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9371" y="1738883"/>
            <a:ext cx="2534411" cy="3380232"/>
          </a:xfrm>
          <a:prstGeom prst="rect">
            <a:avLst/>
          </a:prstGeom>
        </p:spPr>
      </p:pic>
      <p:pic>
        <p:nvPicPr>
          <p:cNvPr id="618" name="picture 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17975" y="1738883"/>
            <a:ext cx="2534411" cy="3380232"/>
          </a:xfrm>
          <a:prstGeom prst="rect">
            <a:avLst/>
          </a:prstGeom>
        </p:spPr>
      </p:pic>
      <p:sp>
        <p:nvSpPr>
          <p:cNvPr id="620" name="textbox 620"/>
          <p:cNvSpPr/>
          <p:nvPr/>
        </p:nvSpPr>
        <p:spPr>
          <a:xfrm>
            <a:off x="6958200" y="2411436"/>
            <a:ext cx="4643754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城东院区内的开水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器，均设置为开放式开水器。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该类开水器耗能大，设备内部反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复加热，造成能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1905" algn="l" rtl="0" eaLnBrk="0">
              <a:lnSpc>
                <a:spcPct val="215000"/>
              </a:lnSpc>
              <a:spcBef>
                <a:spcPts val="30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源浪费，</a:t>
            </a:r>
            <a:r>
              <a:rPr sz="15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同时内部加热器由于反复开关，容易产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生设备损坏，增加维修成本。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8" name="textbox 628"/>
          <p:cNvSpPr/>
          <p:nvPr/>
        </p:nvSpPr>
        <p:spPr>
          <a:xfrm>
            <a:off x="949401" y="350392"/>
            <a:ext cx="934085" cy="328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开水器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0" name="picture 6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50761" y="818337"/>
            <a:ext cx="19050" cy="53911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box 634"/>
          <p:cNvSpPr/>
          <p:nvPr/>
        </p:nvSpPr>
        <p:spPr>
          <a:xfrm>
            <a:off x="5678614" y="2830576"/>
            <a:ext cx="6149340" cy="676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4735" algn="l" rtl="0" eaLnBrk="0">
              <a:lnSpc>
                <a:spcPct val="87000"/>
              </a:lnSpc>
              <a:tabLst>
                <a:tab pos="1371600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6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节能技改及运维方案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642"/>
          <p:cNvSpPr/>
          <p:nvPr/>
        </p:nvSpPr>
        <p:spPr>
          <a:xfrm>
            <a:off x="1082545" y="4026037"/>
            <a:ext cx="10043794" cy="2268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城东院区的能源中心以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及东街院区的住院楼和门诊楼机房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，空调冷水机组以及配套水泵，使用时间较长，且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277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存在一定的设备问题，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目前难以保障高效运行，同时对于整个空调系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统的运行稳定性、安全性造成隐患。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根据实际使用需求，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本次改造拟对城东院区能源中心1台主机及配套水泵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、东街院区两个机房各更换1台主机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algn="l" rtl="0" eaLnBrk="0">
              <a:lnSpc>
                <a:spcPts val="2770"/>
              </a:lnSpc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及配套水泵、冷却塔进行汰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换更新。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新设备可有效提升系统运行可靠性、安全性，</a:t>
            </a:r>
            <a:r>
              <a:rPr sz="1500" kern="0" spc="-4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同时在满足末端使用需求的同时，降低系统整体能耗，达到节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7180" algn="l" rtl="0" eaLnBrk="0">
              <a:lnSpc>
                <a:spcPts val="2770"/>
              </a:lnSpc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能降碳的目的。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79648" y="1228344"/>
            <a:ext cx="6211823" cy="2200655"/>
          </a:xfrm>
          <a:prstGeom prst="rect">
            <a:avLst/>
          </a:prstGeom>
        </p:spPr>
      </p:pic>
      <p:sp>
        <p:nvSpPr>
          <p:cNvPr id="646" name="textbox 646"/>
          <p:cNvSpPr/>
          <p:nvPr/>
        </p:nvSpPr>
        <p:spPr>
          <a:xfrm>
            <a:off x="-12700" y="-12700"/>
            <a:ext cx="1170559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88000"/>
              </a:lnSpc>
              <a:tabLst>
                <a:tab pos="98742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老旧设备汰换                         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9879" y="3811727"/>
            <a:ext cx="11137264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656"/>
          <p:cNvSpPr/>
          <p:nvPr/>
        </p:nvSpPr>
        <p:spPr>
          <a:xfrm>
            <a:off x="1082545" y="4163401"/>
            <a:ext cx="10052684" cy="2282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医院目前除能源中心（城东院区）空调水泵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外，制冷机房动力设备均未设置变频控制，且能源中心水泵频率设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-1270" algn="l" rtl="0" eaLnBrk="0">
              <a:lnSpc>
                <a:spcPct val="162000"/>
              </a:lnSpc>
              <a:spcBef>
                <a:spcPts val="20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置依靠人工操作，常年设置在45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HZ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，没有达到节能的效果，因此有必要对城东院区两个制冷机房各水泵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、冷却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塔风机实现自动控制升级。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7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本次改造对于两座院区各冷水机房内的水泵以及对应冷却塔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增设变频控制，同时接入智慧控制平台，根据末端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7180" algn="l" rtl="0" eaLnBrk="0">
              <a:lnSpc>
                <a:spcPts val="277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负荷和室外温度变化，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自动化控制设备频率调整，进一步降低系统能耗水平。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1500" kern="0" spc="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除同心楼外，其他机房内老化水泵进行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汰换。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384548" y="1182623"/>
            <a:ext cx="1464564" cy="2226564"/>
          </a:xfrm>
          <a:prstGeom prst="rect">
            <a:avLst/>
          </a:prstGeom>
        </p:spPr>
      </p:pic>
      <p:graphicFrame>
        <p:nvGraphicFramePr>
          <p:cNvPr id="664" name="table 664"/>
          <p:cNvGraphicFramePr>
            <a:graphicFrameLocks noGrp="1"/>
          </p:cNvGraphicFramePr>
          <p:nvPr/>
        </p:nvGraphicFramePr>
        <p:xfrm>
          <a:off x="1217295" y="834770"/>
          <a:ext cx="1791335" cy="1292859"/>
        </p:xfrm>
        <a:graphic>
          <a:graphicData uri="http://schemas.openxmlformats.org/drawingml/2006/table">
            <a:tbl>
              <a:tblPr/>
              <a:tblGrid>
                <a:gridCol w="1791335"/>
              </a:tblGrid>
              <a:tr h="12865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26819" y="844295"/>
            <a:ext cx="1772411" cy="1274064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25499" y="2261234"/>
            <a:ext cx="1576577" cy="1392174"/>
          </a:xfrm>
          <a:prstGeom prst="rect">
            <a:avLst/>
          </a:prstGeom>
        </p:spPr>
      </p:pic>
      <p:sp>
        <p:nvSpPr>
          <p:cNvPr id="670" name="textbox 670"/>
          <p:cNvSpPr/>
          <p:nvPr/>
        </p:nvSpPr>
        <p:spPr>
          <a:xfrm>
            <a:off x="962202" y="347344"/>
            <a:ext cx="5188584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水泵、</a:t>
            </a:r>
            <a:r>
              <a:rPr sz="2300" b="1" kern="0" spc="-5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风机变频控制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2" name="path 672"/>
          <p:cNvSpPr/>
          <p:nvPr/>
        </p:nvSpPr>
        <p:spPr>
          <a:xfrm>
            <a:off x="6376098" y="1975104"/>
            <a:ext cx="844613" cy="641603"/>
          </a:xfrm>
          <a:custGeom>
            <a:avLst/>
            <a:gdLst/>
            <a:ahLst/>
            <a:cxnLst/>
            <a:rect l="0" t="0" r="0" b="0"/>
            <a:pathLst>
              <a:path w="1330" h="1010">
                <a:moveTo>
                  <a:pt x="0" y="251"/>
                </a:moveTo>
                <a:moveTo>
                  <a:pt x="0" y="251"/>
                </a:moveTo>
                <a:lnTo>
                  <a:pt x="65" y="251"/>
                </a:lnTo>
                <a:lnTo>
                  <a:pt x="65" y="758"/>
                </a:lnTo>
                <a:lnTo>
                  <a:pt x="0" y="758"/>
                </a:lnTo>
                <a:lnTo>
                  <a:pt x="0" y="251"/>
                </a:lnTo>
                <a:close/>
                <a:moveTo>
                  <a:pt x="96" y="251"/>
                </a:moveTo>
                <a:moveTo>
                  <a:pt x="96" y="251"/>
                </a:moveTo>
                <a:lnTo>
                  <a:pt x="823" y="251"/>
                </a:lnTo>
                <a:lnTo>
                  <a:pt x="823" y="0"/>
                </a:lnTo>
                <a:lnTo>
                  <a:pt x="1330" y="503"/>
                </a:lnTo>
                <a:lnTo>
                  <a:pt x="823" y="1010"/>
                </a:lnTo>
                <a:lnTo>
                  <a:pt x="823" y="758"/>
                </a:lnTo>
                <a:lnTo>
                  <a:pt x="96" y="758"/>
                </a:lnTo>
                <a:lnTo>
                  <a:pt x="96" y="251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8" name="path 678"/>
          <p:cNvSpPr/>
          <p:nvPr/>
        </p:nvSpPr>
        <p:spPr>
          <a:xfrm>
            <a:off x="3418332" y="1981200"/>
            <a:ext cx="629411" cy="629411"/>
          </a:xfrm>
          <a:custGeom>
            <a:avLst/>
            <a:gdLst/>
            <a:ahLst/>
            <a:cxnLst/>
            <a:rect l="0" t="0" r="0" b="0"/>
            <a:pathLst>
              <a:path w="991" h="991">
                <a:moveTo>
                  <a:pt x="0" y="335"/>
                </a:moveTo>
                <a:lnTo>
                  <a:pt x="335" y="335"/>
                </a:lnTo>
                <a:lnTo>
                  <a:pt x="335" y="0"/>
                </a:lnTo>
                <a:lnTo>
                  <a:pt x="652" y="0"/>
                </a:lnTo>
                <a:lnTo>
                  <a:pt x="652" y="335"/>
                </a:lnTo>
                <a:lnTo>
                  <a:pt x="991" y="335"/>
                </a:lnTo>
                <a:lnTo>
                  <a:pt x="991" y="652"/>
                </a:lnTo>
                <a:lnTo>
                  <a:pt x="652" y="652"/>
                </a:lnTo>
                <a:lnTo>
                  <a:pt x="652" y="991"/>
                </a:lnTo>
                <a:lnTo>
                  <a:pt x="335" y="991"/>
                </a:lnTo>
                <a:lnTo>
                  <a:pt x="335" y="652"/>
                </a:lnTo>
                <a:lnTo>
                  <a:pt x="0" y="652"/>
                </a:lnTo>
                <a:lnTo>
                  <a:pt x="0" y="335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80" name="picture 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859" y="4009390"/>
            <a:ext cx="11029950" cy="19050"/>
          </a:xfrm>
          <a:prstGeom prst="rect">
            <a:avLst/>
          </a:prstGeom>
        </p:spPr>
      </p:pic>
      <p:sp>
        <p:nvSpPr>
          <p:cNvPr id="682" name="path 682"/>
          <p:cNvSpPr/>
          <p:nvPr/>
        </p:nvSpPr>
        <p:spPr>
          <a:xfrm>
            <a:off x="6336791" y="2134806"/>
            <a:ext cx="20129" cy="322198"/>
          </a:xfrm>
          <a:custGeom>
            <a:avLst/>
            <a:gdLst/>
            <a:ahLst/>
            <a:cxnLst/>
            <a:rect l="0" t="0" r="0" b="0"/>
            <a:pathLst>
              <a:path w="31" h="507">
                <a:moveTo>
                  <a:pt x="0" y="0"/>
                </a:moveTo>
                <a:moveTo>
                  <a:pt x="0" y="0"/>
                </a:moveTo>
                <a:lnTo>
                  <a:pt x="31" y="0"/>
                </a:lnTo>
                <a:lnTo>
                  <a:pt x="31" y="506"/>
                </a:lnTo>
                <a:lnTo>
                  <a:pt x="0" y="506"/>
                </a:lnTo>
                <a:lnTo>
                  <a:pt x="0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25651" y="937259"/>
            <a:ext cx="3934967" cy="2950464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51776" y="937259"/>
            <a:ext cx="3933443" cy="2950464"/>
          </a:xfrm>
          <a:prstGeom prst="rect">
            <a:avLst/>
          </a:prstGeom>
        </p:spPr>
      </p:pic>
      <p:sp>
        <p:nvSpPr>
          <p:cNvPr id="688" name="textbox 688"/>
          <p:cNvSpPr/>
          <p:nvPr/>
        </p:nvSpPr>
        <p:spPr>
          <a:xfrm>
            <a:off x="609470" y="4251031"/>
            <a:ext cx="4784090" cy="2192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目前该系统冷却塔外部壳体状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态仍可以满足使用需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1270" algn="l" rtl="0" eaLnBrk="0">
              <a:lnSpc>
                <a:spcPct val="162000"/>
              </a:lnSpc>
              <a:spcBef>
                <a:spcPts val="20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求，但由于日常维护不到位，导致填料结垢明显、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布水不均匀、系统散热效率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较差。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原系统存在缺陷，大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小塔积水盘未设置在同一高度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3370" indent="18415" algn="l" rtl="0" eaLnBrk="0">
              <a:lnSpc>
                <a:spcPct val="162000"/>
              </a:lnSpc>
              <a:spcBef>
                <a:spcPts val="2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以及大小塔之间未设置平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衡管，处于低位的小塔全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天都在补水。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0" name="textbox 690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742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6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能源中心（城东院区）</a:t>
            </a:r>
            <a:r>
              <a:rPr sz="2300" b="1" kern="0" spc="-5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冷却塔整备维护          </a:t>
            </a:r>
            <a:r>
              <a:rPr sz="2300" b="1" kern="0" spc="5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6" name="textbox 696"/>
          <p:cNvSpPr/>
          <p:nvPr/>
        </p:nvSpPr>
        <p:spPr>
          <a:xfrm>
            <a:off x="6991855" y="4251311"/>
            <a:ext cx="4732020" cy="1828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1500" kern="0" spc="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对于三台大塔检查布水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器、风扇电机、扇叶平衡、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9560" algn="l" rtl="0" eaLnBrk="0">
              <a:lnSpc>
                <a:spcPts val="2770"/>
              </a:lnSpc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密封件等。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3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9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将小塔积水盘调整到与大塔同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一水平高度或在屋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-15240" algn="l" rtl="0" eaLnBrk="0">
              <a:lnSpc>
                <a:spcPct val="163000"/>
              </a:lnSpc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面荷载允许的情况下，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将小塔更换成与大塔相同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的设备。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0" name="path 700"/>
          <p:cNvSpPr/>
          <p:nvPr/>
        </p:nvSpPr>
        <p:spPr>
          <a:xfrm>
            <a:off x="5754306" y="1999488"/>
            <a:ext cx="843090" cy="641603"/>
          </a:xfrm>
          <a:custGeom>
            <a:avLst/>
            <a:gdLst/>
            <a:ahLst/>
            <a:cxnLst/>
            <a:rect l="0" t="0" r="0" b="0"/>
            <a:pathLst>
              <a:path w="1327" h="1010">
                <a:moveTo>
                  <a:pt x="0" y="251"/>
                </a:moveTo>
                <a:moveTo>
                  <a:pt x="0" y="251"/>
                </a:moveTo>
                <a:lnTo>
                  <a:pt x="62" y="251"/>
                </a:lnTo>
                <a:lnTo>
                  <a:pt x="62" y="758"/>
                </a:lnTo>
                <a:lnTo>
                  <a:pt x="0" y="758"/>
                </a:lnTo>
                <a:lnTo>
                  <a:pt x="0" y="251"/>
                </a:lnTo>
                <a:close/>
                <a:moveTo>
                  <a:pt x="94" y="251"/>
                </a:moveTo>
                <a:moveTo>
                  <a:pt x="94" y="251"/>
                </a:moveTo>
                <a:lnTo>
                  <a:pt x="821" y="251"/>
                </a:lnTo>
                <a:lnTo>
                  <a:pt x="821" y="0"/>
                </a:lnTo>
                <a:lnTo>
                  <a:pt x="1327" y="504"/>
                </a:lnTo>
                <a:lnTo>
                  <a:pt x="821" y="1010"/>
                </a:lnTo>
                <a:lnTo>
                  <a:pt x="821" y="758"/>
                </a:lnTo>
                <a:lnTo>
                  <a:pt x="94" y="758"/>
                </a:lnTo>
                <a:lnTo>
                  <a:pt x="94" y="251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02" name="picture 7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859" y="4089400"/>
            <a:ext cx="11029950" cy="19050"/>
          </a:xfrm>
          <a:prstGeom prst="rect">
            <a:avLst/>
          </a:prstGeom>
        </p:spPr>
      </p:pic>
      <p:sp>
        <p:nvSpPr>
          <p:cNvPr id="704" name="path 704"/>
          <p:cNvSpPr/>
          <p:nvPr/>
        </p:nvSpPr>
        <p:spPr>
          <a:xfrm>
            <a:off x="5713475" y="2159190"/>
            <a:ext cx="21653" cy="322198"/>
          </a:xfrm>
          <a:custGeom>
            <a:avLst/>
            <a:gdLst/>
            <a:ahLst/>
            <a:cxnLst/>
            <a:rect l="0" t="0" r="0" b="0"/>
            <a:pathLst>
              <a:path w="34" h="507">
                <a:moveTo>
                  <a:pt x="0" y="0"/>
                </a:moveTo>
                <a:moveTo>
                  <a:pt x="0" y="0"/>
                </a:moveTo>
                <a:lnTo>
                  <a:pt x="33" y="0"/>
                </a:lnTo>
                <a:lnTo>
                  <a:pt x="33" y="506"/>
                </a:lnTo>
                <a:lnTo>
                  <a:pt x="0" y="506"/>
                </a:lnTo>
                <a:lnTo>
                  <a:pt x="0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textbox 706"/>
          <p:cNvSpPr/>
          <p:nvPr/>
        </p:nvSpPr>
        <p:spPr>
          <a:xfrm>
            <a:off x="609470" y="3962106"/>
            <a:ext cx="4792345" cy="2558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1500" kern="0" spc="8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门诊医技楼（东街院区）采用直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流免风冷却塔，</a:t>
            </a:r>
            <a:r>
              <a:rPr sz="1500" kern="0" spc="-4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1905" algn="l" rtl="0" eaLnBrk="0">
              <a:lnSpc>
                <a:spcPct val="161000"/>
              </a:lnSpc>
              <a:spcBef>
                <a:spcPts val="4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达设备设计使用年限，散热效果差，漂水率严重、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现场已增加该免风冷却塔风机，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但密封性不好，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常运行并未开启。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1号住院楼（东街院区）采用两台圆形逆流塔，</a:t>
            </a:r>
            <a:r>
              <a:rPr sz="15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indent="-635" algn="l" rtl="0" eaLnBrk="0">
              <a:lnSpc>
                <a:spcPct val="162000"/>
              </a:lnSpc>
              <a:spcBef>
                <a:spcPts val="2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达设备设计使用年限，散热效果差，漂水率严重、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补水阀已损坏等。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08" name="picture 7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89876" y="1143000"/>
            <a:ext cx="4040123" cy="2447544"/>
          </a:xfrm>
          <a:prstGeom prst="rect">
            <a:avLst/>
          </a:prstGeom>
        </p:spPr>
      </p:pic>
      <p:sp>
        <p:nvSpPr>
          <p:cNvPr id="710" name="textbox 710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7425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中央空调系统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东街院区）</a:t>
            </a:r>
            <a:r>
              <a:rPr sz="2300" b="1" kern="0" spc="-5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冷却塔更换</a:t>
            </a: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6" name="textbox 716"/>
          <p:cNvSpPr/>
          <p:nvPr/>
        </p:nvSpPr>
        <p:spPr>
          <a:xfrm>
            <a:off x="7085581" y="4059896"/>
            <a:ext cx="4396104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更换门诊医技楼、</a:t>
            </a:r>
            <a:r>
              <a:rPr sz="1500" kern="0" spc="-4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1号住院楼（东街院区）对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925" algn="l" rtl="0" eaLnBrk="0">
              <a:lnSpc>
                <a:spcPts val="277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应空调系统的冷却塔。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冷却塔的散热效率对空调能否节能、安全、高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4005" algn="l" rtl="0" eaLnBrk="0">
              <a:lnSpc>
                <a:spcPts val="277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效运行有着至关重要的影响。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18" name="picture 7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99232" y="1143000"/>
            <a:ext cx="2330196" cy="2446020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608" y="1143000"/>
            <a:ext cx="2205227" cy="2447544"/>
          </a:xfrm>
          <a:prstGeom prst="rect">
            <a:avLst/>
          </a:prstGeom>
        </p:spPr>
      </p:pic>
      <p:sp>
        <p:nvSpPr>
          <p:cNvPr id="724" name="path 724"/>
          <p:cNvSpPr/>
          <p:nvPr/>
        </p:nvSpPr>
        <p:spPr>
          <a:xfrm>
            <a:off x="5917691" y="1999488"/>
            <a:ext cx="883920" cy="641603"/>
          </a:xfrm>
          <a:custGeom>
            <a:avLst/>
            <a:gdLst/>
            <a:ahLst/>
            <a:cxnLst/>
            <a:rect l="0" t="0" r="0" b="0"/>
            <a:pathLst>
              <a:path w="1392" h="1010">
                <a:moveTo>
                  <a:pt x="0" y="251"/>
                </a:moveTo>
                <a:moveTo>
                  <a:pt x="0" y="251"/>
                </a:moveTo>
                <a:lnTo>
                  <a:pt x="31" y="251"/>
                </a:lnTo>
                <a:lnTo>
                  <a:pt x="31" y="758"/>
                </a:lnTo>
                <a:lnTo>
                  <a:pt x="0" y="758"/>
                </a:lnTo>
                <a:lnTo>
                  <a:pt x="0" y="251"/>
                </a:lnTo>
                <a:close/>
                <a:moveTo>
                  <a:pt x="62" y="251"/>
                </a:moveTo>
                <a:moveTo>
                  <a:pt x="62" y="251"/>
                </a:moveTo>
                <a:lnTo>
                  <a:pt x="127" y="251"/>
                </a:lnTo>
                <a:lnTo>
                  <a:pt x="127" y="758"/>
                </a:lnTo>
                <a:lnTo>
                  <a:pt x="62" y="758"/>
                </a:lnTo>
                <a:lnTo>
                  <a:pt x="62" y="251"/>
                </a:lnTo>
                <a:close/>
                <a:moveTo>
                  <a:pt x="158" y="251"/>
                </a:moveTo>
                <a:moveTo>
                  <a:pt x="158" y="251"/>
                </a:moveTo>
                <a:lnTo>
                  <a:pt x="885" y="251"/>
                </a:lnTo>
                <a:lnTo>
                  <a:pt x="885" y="0"/>
                </a:lnTo>
                <a:lnTo>
                  <a:pt x="1392" y="504"/>
                </a:lnTo>
                <a:lnTo>
                  <a:pt x="885" y="1010"/>
                </a:lnTo>
                <a:lnTo>
                  <a:pt x="885" y="758"/>
                </a:lnTo>
                <a:lnTo>
                  <a:pt x="158" y="758"/>
                </a:lnTo>
                <a:lnTo>
                  <a:pt x="158" y="251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26" name="picture 7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859" y="3794125"/>
            <a:ext cx="1102995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box 728"/>
          <p:cNvSpPr/>
          <p:nvPr/>
        </p:nvSpPr>
        <p:spPr>
          <a:xfrm>
            <a:off x="8802240" y="1805011"/>
            <a:ext cx="3048635" cy="2559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目前东街院区部分区域末端老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8290" indent="23495" algn="l" rtl="0" eaLnBrk="0">
              <a:lnSpc>
                <a:spcPct val="162000"/>
              </a:lnSpc>
              <a:spcBef>
                <a:spcPts val="25"/>
              </a:spcBef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旧，用水器具状态相对较差，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难以达到节水要求。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0"/>
              </a:spcBef>
            </a:pPr>
            <a:r>
              <a:rPr sz="1500" kern="0" spc="14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本次改造拟对需要更换的末端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830" algn="l" rtl="0" eaLnBrk="0">
              <a:lnSpc>
                <a:spcPct val="161000"/>
              </a:lnSpc>
              <a:spcBef>
                <a:spcPts val="5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用水器具进行更换，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以满足国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家规范规定的二级水效要求为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更换标准。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30" name="picture 7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22504" y="1109472"/>
            <a:ext cx="1697736" cy="2238755"/>
          </a:xfrm>
          <a:prstGeom prst="rect">
            <a:avLst/>
          </a:prstGeom>
        </p:spPr>
      </p:pic>
      <p:pic>
        <p:nvPicPr>
          <p:cNvPr id="732" name="picture 7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34539" y="1104900"/>
            <a:ext cx="1693164" cy="2238755"/>
          </a:xfrm>
          <a:prstGeom prst="rect">
            <a:avLst/>
          </a:prstGeom>
        </p:spPr>
      </p:pic>
      <p:pic>
        <p:nvPicPr>
          <p:cNvPr id="734" name="picture 7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75048" y="1109472"/>
            <a:ext cx="1677924" cy="2238755"/>
          </a:xfrm>
          <a:prstGeom prst="rect">
            <a:avLst/>
          </a:prstGeom>
        </p:spPr>
      </p:pic>
      <p:pic>
        <p:nvPicPr>
          <p:cNvPr id="736" name="picture 7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5048" y="3499103"/>
            <a:ext cx="1677924" cy="2238755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00800" y="1109472"/>
            <a:ext cx="1677923" cy="2238755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00800" y="3499103"/>
            <a:ext cx="1677923" cy="2238755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49779" y="3560064"/>
            <a:ext cx="1679447" cy="2176271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46888" y="3560064"/>
            <a:ext cx="1648967" cy="2189988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947877" y="347344"/>
            <a:ext cx="3679190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给水系统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末端器具汰换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4" name="path 754"/>
          <p:cNvSpPr/>
          <p:nvPr/>
        </p:nvSpPr>
        <p:spPr>
          <a:xfrm>
            <a:off x="3902646" y="3022091"/>
            <a:ext cx="527621" cy="643128"/>
          </a:xfrm>
          <a:custGeom>
            <a:avLst/>
            <a:gdLst/>
            <a:ahLst/>
            <a:cxnLst/>
            <a:rect l="0" t="0" r="0" b="0"/>
            <a:pathLst>
              <a:path w="830" h="1012">
                <a:moveTo>
                  <a:pt x="0" y="254"/>
                </a:moveTo>
                <a:moveTo>
                  <a:pt x="0" y="254"/>
                </a:moveTo>
                <a:lnTo>
                  <a:pt x="55" y="254"/>
                </a:lnTo>
                <a:lnTo>
                  <a:pt x="55" y="758"/>
                </a:lnTo>
                <a:lnTo>
                  <a:pt x="0" y="758"/>
                </a:lnTo>
                <a:lnTo>
                  <a:pt x="0" y="254"/>
                </a:lnTo>
                <a:close/>
                <a:moveTo>
                  <a:pt x="84" y="254"/>
                </a:moveTo>
                <a:moveTo>
                  <a:pt x="84" y="254"/>
                </a:moveTo>
                <a:lnTo>
                  <a:pt x="386" y="254"/>
                </a:lnTo>
                <a:lnTo>
                  <a:pt x="386" y="0"/>
                </a:lnTo>
                <a:lnTo>
                  <a:pt x="830" y="506"/>
                </a:lnTo>
                <a:lnTo>
                  <a:pt x="386" y="1012"/>
                </a:lnTo>
                <a:lnTo>
                  <a:pt x="386" y="758"/>
                </a:lnTo>
                <a:lnTo>
                  <a:pt x="84" y="758"/>
                </a:lnTo>
                <a:lnTo>
                  <a:pt x="84" y="254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56" name="picture 7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542387" y="580707"/>
            <a:ext cx="34239" cy="5543575"/>
          </a:xfrm>
          <a:prstGeom prst="rect">
            <a:avLst/>
          </a:prstGeom>
        </p:spPr>
      </p:pic>
      <p:sp>
        <p:nvSpPr>
          <p:cNvPr id="758" name="path 758"/>
          <p:cNvSpPr/>
          <p:nvPr/>
        </p:nvSpPr>
        <p:spPr>
          <a:xfrm>
            <a:off x="3867911" y="3183318"/>
            <a:ext cx="17081" cy="320674"/>
          </a:xfrm>
          <a:custGeom>
            <a:avLst/>
            <a:gdLst/>
            <a:ahLst/>
            <a:cxnLst/>
            <a:rect l="0" t="0" r="0" b="0"/>
            <a:pathLst>
              <a:path w="26" h="504">
                <a:moveTo>
                  <a:pt x="0" y="0"/>
                </a:moveTo>
                <a:moveTo>
                  <a:pt x="0" y="0"/>
                </a:moveTo>
                <a:lnTo>
                  <a:pt x="26" y="0"/>
                </a:lnTo>
                <a:lnTo>
                  <a:pt x="26" y="504"/>
                </a:lnTo>
                <a:lnTo>
                  <a:pt x="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textbox 760"/>
          <p:cNvSpPr/>
          <p:nvPr/>
        </p:nvSpPr>
        <p:spPr>
          <a:xfrm>
            <a:off x="6689595" y="2489541"/>
            <a:ext cx="5161279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 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目前医院整体多采用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灯具，具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有较好的能效，能够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830" algn="l" rtl="0" eaLnBrk="0">
              <a:lnSpc>
                <a:spcPts val="277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很好的满足医院的使用需求。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1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医院还存有部分老旧荧光灯具，本次改造拟对老旧荧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830" algn="l" rtl="0" eaLnBrk="0">
              <a:lnSpc>
                <a:spcPts val="277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光灯具进行替换有，统一替换为高光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灯具。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62" name="picture 7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0331" y="2063495"/>
            <a:ext cx="2046732" cy="2729484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16071" y="2053970"/>
            <a:ext cx="2024633" cy="2748534"/>
          </a:xfrm>
          <a:prstGeom prst="rect">
            <a:avLst/>
          </a:prstGeom>
        </p:spPr>
      </p:pic>
      <p:sp>
        <p:nvSpPr>
          <p:cNvPr id="768" name="textbox 768"/>
          <p:cNvSpPr/>
          <p:nvPr/>
        </p:nvSpPr>
        <p:spPr>
          <a:xfrm>
            <a:off x="949706" y="347344"/>
            <a:ext cx="3677284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照明系统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老旧灯具汰换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4" name="path 774"/>
          <p:cNvSpPr/>
          <p:nvPr/>
        </p:nvSpPr>
        <p:spPr>
          <a:xfrm>
            <a:off x="2834322" y="3108959"/>
            <a:ext cx="526097" cy="641603"/>
          </a:xfrm>
          <a:custGeom>
            <a:avLst/>
            <a:gdLst/>
            <a:ahLst/>
            <a:cxnLst/>
            <a:rect l="0" t="0" r="0" b="0"/>
            <a:pathLst>
              <a:path w="828" h="1010">
                <a:moveTo>
                  <a:pt x="0" y="252"/>
                </a:moveTo>
                <a:moveTo>
                  <a:pt x="0" y="252"/>
                </a:moveTo>
                <a:lnTo>
                  <a:pt x="55" y="252"/>
                </a:lnTo>
                <a:lnTo>
                  <a:pt x="55" y="758"/>
                </a:lnTo>
                <a:lnTo>
                  <a:pt x="0" y="758"/>
                </a:lnTo>
                <a:lnTo>
                  <a:pt x="0" y="252"/>
                </a:lnTo>
                <a:close/>
                <a:moveTo>
                  <a:pt x="82" y="252"/>
                </a:moveTo>
                <a:moveTo>
                  <a:pt x="82" y="252"/>
                </a:moveTo>
                <a:lnTo>
                  <a:pt x="386" y="252"/>
                </a:lnTo>
                <a:lnTo>
                  <a:pt x="386" y="0"/>
                </a:lnTo>
                <a:lnTo>
                  <a:pt x="828" y="504"/>
                </a:lnTo>
                <a:lnTo>
                  <a:pt x="386" y="1010"/>
                </a:lnTo>
                <a:lnTo>
                  <a:pt x="386" y="758"/>
                </a:lnTo>
                <a:lnTo>
                  <a:pt x="82" y="758"/>
                </a:lnTo>
                <a:lnTo>
                  <a:pt x="82" y="252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76" name="picture 7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79553" y="580707"/>
            <a:ext cx="34239" cy="5543575"/>
          </a:xfrm>
          <a:prstGeom prst="rect">
            <a:avLst/>
          </a:prstGeom>
        </p:spPr>
      </p:pic>
      <p:sp>
        <p:nvSpPr>
          <p:cNvPr id="778" name="path 778"/>
          <p:cNvSpPr/>
          <p:nvPr/>
        </p:nvSpPr>
        <p:spPr>
          <a:xfrm>
            <a:off x="2799587" y="3268662"/>
            <a:ext cx="17081" cy="322198"/>
          </a:xfrm>
          <a:custGeom>
            <a:avLst/>
            <a:gdLst/>
            <a:ahLst/>
            <a:cxnLst/>
            <a:rect l="0" t="0" r="0" b="0"/>
            <a:pathLst>
              <a:path w="26" h="507">
                <a:moveTo>
                  <a:pt x="0" y="0"/>
                </a:moveTo>
                <a:moveTo>
                  <a:pt x="0" y="0"/>
                </a:moveTo>
                <a:lnTo>
                  <a:pt x="26" y="0"/>
                </a:lnTo>
                <a:lnTo>
                  <a:pt x="26" y="506"/>
                </a:lnTo>
                <a:lnTo>
                  <a:pt x="0" y="506"/>
                </a:lnTo>
                <a:lnTo>
                  <a:pt x="0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extbox 780"/>
          <p:cNvSpPr/>
          <p:nvPr/>
        </p:nvSpPr>
        <p:spPr>
          <a:xfrm>
            <a:off x="7880766" y="2012148"/>
            <a:ext cx="3584575" cy="302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开水器：医院内的开水器多数为开式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9560" algn="l" rtl="0" eaLnBrk="0">
              <a:lnSpc>
                <a:spcPts val="277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开水器。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开水器均设置了定时开关机功能，每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3370" algn="l" rtl="0" eaLnBrk="0">
              <a:lnSpc>
                <a:spcPts val="277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天固定时间段供应开水。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管道加热型直饮水机，这种饮水机没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635" algn="l" rtl="0" eaLnBrk="0">
              <a:lnSpc>
                <a:spcPct val="161000"/>
              </a:lnSpc>
              <a:spcBef>
                <a:spcPts val="4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有储水箱，开水现烧现出，不取水时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处于待机状态，不加热也不用电，形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成开水器领域的超低能耗。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82" name="picture 7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805171" y="1868423"/>
            <a:ext cx="2348483" cy="3637788"/>
          </a:xfrm>
          <a:prstGeom prst="rect">
            <a:avLst/>
          </a:prstGeom>
        </p:spPr>
      </p:pic>
      <p:pic>
        <p:nvPicPr>
          <p:cNvPr id="786" name="picture 7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24455" y="1362455"/>
            <a:ext cx="1623060" cy="2170176"/>
          </a:xfrm>
          <a:prstGeom prst="rect">
            <a:avLst/>
          </a:prstGeom>
        </p:spPr>
      </p:pic>
      <p:pic>
        <p:nvPicPr>
          <p:cNvPr id="788" name="picture 7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2128" y="1362455"/>
            <a:ext cx="1618488" cy="2170176"/>
          </a:xfrm>
          <a:prstGeom prst="rect">
            <a:avLst/>
          </a:prstGeom>
        </p:spPr>
      </p:pic>
      <p:pic>
        <p:nvPicPr>
          <p:cNvPr id="790" name="picture 7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24455" y="3808476"/>
            <a:ext cx="1618488" cy="2170176"/>
          </a:xfrm>
          <a:prstGeom prst="rect">
            <a:avLst/>
          </a:prstGeom>
        </p:spPr>
      </p:pic>
      <p:pic>
        <p:nvPicPr>
          <p:cNvPr id="792" name="picture 7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2128" y="3842004"/>
            <a:ext cx="1618488" cy="2136647"/>
          </a:xfrm>
          <a:prstGeom prst="rect">
            <a:avLst/>
          </a:prstGeom>
        </p:spPr>
      </p:pic>
      <p:sp>
        <p:nvSpPr>
          <p:cNvPr id="794" name="textbox 794"/>
          <p:cNvSpPr/>
          <p:nvPr/>
        </p:nvSpPr>
        <p:spPr>
          <a:xfrm>
            <a:off x="949401" y="347344"/>
            <a:ext cx="3982084" cy="331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开水系统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开水器节能改造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0" name="path 800"/>
          <p:cNvSpPr/>
          <p:nvPr/>
        </p:nvSpPr>
        <p:spPr>
          <a:xfrm>
            <a:off x="4088574" y="3198876"/>
            <a:ext cx="527621" cy="641603"/>
          </a:xfrm>
          <a:custGeom>
            <a:avLst/>
            <a:gdLst/>
            <a:ahLst/>
            <a:cxnLst/>
            <a:rect l="0" t="0" r="0" b="0"/>
            <a:pathLst>
              <a:path w="830" h="1010">
                <a:moveTo>
                  <a:pt x="0" y="251"/>
                </a:moveTo>
                <a:moveTo>
                  <a:pt x="0" y="251"/>
                </a:moveTo>
                <a:lnTo>
                  <a:pt x="58" y="251"/>
                </a:lnTo>
                <a:lnTo>
                  <a:pt x="58" y="758"/>
                </a:lnTo>
                <a:lnTo>
                  <a:pt x="0" y="758"/>
                </a:lnTo>
                <a:lnTo>
                  <a:pt x="0" y="251"/>
                </a:lnTo>
                <a:close/>
                <a:moveTo>
                  <a:pt x="84" y="251"/>
                </a:moveTo>
                <a:moveTo>
                  <a:pt x="84" y="251"/>
                </a:moveTo>
                <a:lnTo>
                  <a:pt x="389" y="251"/>
                </a:lnTo>
                <a:lnTo>
                  <a:pt x="389" y="0"/>
                </a:lnTo>
                <a:lnTo>
                  <a:pt x="830" y="506"/>
                </a:lnTo>
                <a:lnTo>
                  <a:pt x="389" y="1010"/>
                </a:lnTo>
                <a:lnTo>
                  <a:pt x="389" y="758"/>
                </a:lnTo>
                <a:lnTo>
                  <a:pt x="84" y="758"/>
                </a:lnTo>
                <a:lnTo>
                  <a:pt x="84" y="251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02" name="picture 8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565758" y="433387"/>
            <a:ext cx="34239" cy="5543575"/>
          </a:xfrm>
          <a:prstGeom prst="rect">
            <a:avLst/>
          </a:prstGeom>
        </p:spPr>
      </p:pic>
      <p:sp>
        <p:nvSpPr>
          <p:cNvPr id="804" name="path 804"/>
          <p:cNvSpPr/>
          <p:nvPr/>
        </p:nvSpPr>
        <p:spPr>
          <a:xfrm>
            <a:off x="4053840" y="3358578"/>
            <a:ext cx="18605" cy="322198"/>
          </a:xfrm>
          <a:custGeom>
            <a:avLst/>
            <a:gdLst/>
            <a:ahLst/>
            <a:cxnLst/>
            <a:rect l="0" t="0" r="0" b="0"/>
            <a:pathLst>
              <a:path w="29" h="507">
                <a:moveTo>
                  <a:pt x="0" y="0"/>
                </a:moveTo>
                <a:moveTo>
                  <a:pt x="0" y="0"/>
                </a:moveTo>
                <a:lnTo>
                  <a:pt x="28" y="0"/>
                </a:lnTo>
                <a:lnTo>
                  <a:pt x="28" y="506"/>
                </a:lnTo>
                <a:lnTo>
                  <a:pt x="0" y="506"/>
                </a:lnTo>
                <a:lnTo>
                  <a:pt x="0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picture 8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03135" y="1554480"/>
            <a:ext cx="2554223" cy="3101339"/>
          </a:xfrm>
          <a:prstGeom prst="rect">
            <a:avLst/>
          </a:prstGeom>
        </p:spPr>
      </p:pic>
      <p:pic>
        <p:nvPicPr>
          <p:cNvPr id="810" name="picture 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851135" y="3838956"/>
            <a:ext cx="1688592" cy="2130551"/>
          </a:xfrm>
          <a:prstGeom prst="rect">
            <a:avLst/>
          </a:prstGeom>
        </p:spPr>
      </p:pic>
      <p:pic>
        <p:nvPicPr>
          <p:cNvPr id="812" name="picture 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851135" y="888492"/>
            <a:ext cx="1688592" cy="2130551"/>
          </a:xfrm>
          <a:prstGeom prst="rect">
            <a:avLst/>
          </a:prstGeom>
        </p:spPr>
      </p:pic>
      <p:sp>
        <p:nvSpPr>
          <p:cNvPr id="814" name="textbox 814"/>
          <p:cNvSpPr/>
          <p:nvPr/>
        </p:nvSpPr>
        <p:spPr>
          <a:xfrm>
            <a:off x="778380" y="3068661"/>
            <a:ext cx="4935220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7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本次改造拟对城东院区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的各直梯机房内，加装电梯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r" rtl="0" eaLnBrk="0">
              <a:lnSpc>
                <a:spcPts val="2770"/>
              </a:lnSpc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能量回馈装置，减少能源浪费，提高能源利用效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961898" y="347040"/>
            <a:ext cx="427482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电梯系统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电梯能量回馈</a:t>
            </a:r>
            <a:r>
              <a:rPr sz="2300" b="1" kern="0" spc="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2" name="path 822"/>
          <p:cNvSpPr/>
          <p:nvPr/>
        </p:nvSpPr>
        <p:spPr>
          <a:xfrm>
            <a:off x="10373867" y="3181794"/>
            <a:ext cx="641604" cy="527621"/>
          </a:xfrm>
          <a:custGeom>
            <a:avLst/>
            <a:gdLst/>
            <a:ahLst/>
            <a:cxnLst/>
            <a:rect l="0" t="0" r="0" b="0"/>
            <a:pathLst>
              <a:path w="1010" h="830">
                <a:moveTo>
                  <a:pt x="758" y="0"/>
                </a:moveTo>
                <a:moveTo>
                  <a:pt x="758" y="0"/>
                </a:moveTo>
                <a:lnTo>
                  <a:pt x="758" y="55"/>
                </a:lnTo>
                <a:lnTo>
                  <a:pt x="252" y="55"/>
                </a:lnTo>
                <a:lnTo>
                  <a:pt x="252" y="0"/>
                </a:lnTo>
                <a:lnTo>
                  <a:pt x="758" y="0"/>
                </a:lnTo>
                <a:close/>
                <a:moveTo>
                  <a:pt x="758" y="84"/>
                </a:moveTo>
                <a:moveTo>
                  <a:pt x="758" y="84"/>
                </a:moveTo>
                <a:lnTo>
                  <a:pt x="758" y="389"/>
                </a:lnTo>
                <a:lnTo>
                  <a:pt x="1010" y="389"/>
                </a:lnTo>
                <a:lnTo>
                  <a:pt x="506" y="830"/>
                </a:lnTo>
                <a:lnTo>
                  <a:pt x="0" y="389"/>
                </a:lnTo>
                <a:lnTo>
                  <a:pt x="252" y="389"/>
                </a:lnTo>
                <a:lnTo>
                  <a:pt x="252" y="84"/>
                </a:lnTo>
                <a:lnTo>
                  <a:pt x="758" y="84"/>
                </a:lnTo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24" name="picture 8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83693" y="433387"/>
            <a:ext cx="34238" cy="5543575"/>
          </a:xfrm>
          <a:prstGeom prst="rect">
            <a:avLst/>
          </a:prstGeom>
        </p:spPr>
      </p:pic>
      <p:sp>
        <p:nvSpPr>
          <p:cNvPr id="826" name="path 826"/>
          <p:cNvSpPr/>
          <p:nvPr/>
        </p:nvSpPr>
        <p:spPr>
          <a:xfrm>
            <a:off x="10533570" y="3147059"/>
            <a:ext cx="322199" cy="18605"/>
          </a:xfrm>
          <a:custGeom>
            <a:avLst/>
            <a:gdLst/>
            <a:ahLst/>
            <a:cxnLst/>
            <a:rect l="0" t="0" r="0" b="0"/>
            <a:pathLst>
              <a:path w="507" h="29">
                <a:moveTo>
                  <a:pt x="506" y="0"/>
                </a:moveTo>
                <a:moveTo>
                  <a:pt x="506" y="0"/>
                </a:moveTo>
                <a:lnTo>
                  <a:pt x="506" y="28"/>
                </a:lnTo>
                <a:lnTo>
                  <a:pt x="0" y="28"/>
                </a:lnTo>
                <a:lnTo>
                  <a:pt x="0" y="0"/>
                </a:lnTo>
                <a:lnTo>
                  <a:pt x="506" y="0"/>
                </a:lnTo>
                <a:close/>
              </a:path>
            </a:pathLst>
          </a:custGeom>
          <a:solidFill>
            <a:srgbClr val="75BD4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21600000">
            <a:off x="862965" y="5345430"/>
            <a:ext cx="10554970" cy="947653"/>
            <a:chOff x="-317" y="3152458"/>
            <a:chExt cx="10554970" cy="947653"/>
          </a:xfrm>
        </p:grpSpPr>
        <p:pic>
          <p:nvPicPr>
            <p:cNvPr id="828" name="picture 828"/>
            <p:cNvPicPr>
              <a:picLocks noChangeAspect="1"/>
            </p:cNvPicPr>
            <p:nvPr/>
          </p:nvPicPr>
          <p:blipFill>
            <a:blip r:embed="rId1"/>
            <a:srcRect t="86231" r="-435"/>
            <a:stretch>
              <a:fillRect/>
            </a:stretch>
          </p:blipFill>
          <p:spPr>
            <a:xfrm rot="21600000">
              <a:off x="-317" y="3152458"/>
              <a:ext cx="10554970" cy="505460"/>
            </a:xfrm>
            <a:prstGeom prst="rect">
              <a:avLst/>
            </a:prstGeom>
          </p:spPr>
        </p:pic>
        <p:sp>
          <p:nvSpPr>
            <p:cNvPr id="830" name="textbox 830"/>
            <p:cNvSpPr/>
            <p:nvPr/>
          </p:nvSpPr>
          <p:spPr>
            <a:xfrm>
              <a:off x="4631207" y="3748677"/>
              <a:ext cx="708025" cy="332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4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7310" indent="-54610" algn="l" rtl="0" eaLnBrk="0">
                <a:lnSpc>
                  <a:spcPct val="93000"/>
                </a:lnSpc>
              </a:pPr>
              <a:r>
                <a:rPr sz="1100" kern="0" spc="-3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自动化派单</a:t>
              </a: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派工系统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2" name="textbox 832"/>
            <p:cNvSpPr/>
            <p:nvPr/>
          </p:nvSpPr>
          <p:spPr>
            <a:xfrm>
              <a:off x="2727073" y="3747835"/>
              <a:ext cx="584200" cy="339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库存管理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3035" algn="l" rtl="0" eaLnBrk="0">
                <a:lnSpc>
                  <a:spcPct val="87000"/>
                </a:lnSpc>
                <a:spcBef>
                  <a:spcPts val="165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4" name="textbox 834"/>
            <p:cNvSpPr/>
            <p:nvPr/>
          </p:nvSpPr>
          <p:spPr>
            <a:xfrm>
              <a:off x="7923198" y="3747975"/>
              <a:ext cx="582930" cy="339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能源管理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1130" algn="l" rtl="0" eaLnBrk="0">
                <a:lnSpc>
                  <a:spcPct val="87000"/>
                </a:lnSpc>
                <a:spcBef>
                  <a:spcPts val="175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6" name="textbox 836"/>
            <p:cNvSpPr/>
            <p:nvPr/>
          </p:nvSpPr>
          <p:spPr>
            <a:xfrm>
              <a:off x="6844755" y="3747835"/>
              <a:ext cx="582294" cy="339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设备监控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0495" algn="l" rtl="0" eaLnBrk="0">
                <a:lnSpc>
                  <a:spcPct val="87000"/>
                </a:lnSpc>
                <a:spcBef>
                  <a:spcPts val="165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8" name="textbox 838"/>
            <p:cNvSpPr/>
            <p:nvPr/>
          </p:nvSpPr>
          <p:spPr>
            <a:xfrm>
              <a:off x="9001362" y="3749098"/>
              <a:ext cx="583565" cy="3384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维修保养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1765" algn="l" rtl="0" eaLnBrk="0">
                <a:lnSpc>
                  <a:spcPct val="87000"/>
                </a:lnSpc>
                <a:spcBef>
                  <a:spcPts val="175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0" name="textbox 840"/>
            <p:cNvSpPr/>
            <p:nvPr/>
          </p:nvSpPr>
          <p:spPr>
            <a:xfrm>
              <a:off x="5765188" y="3748817"/>
              <a:ext cx="582930" cy="3384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人员绩效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2400" algn="l" rtl="0" eaLnBrk="0">
                <a:lnSpc>
                  <a:spcPct val="86000"/>
                </a:lnSpc>
                <a:spcBef>
                  <a:spcPts val="180"/>
                </a:spcBef>
              </a:pPr>
              <a:r>
                <a:rPr sz="1100" kern="0" spc="-2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2" name="textbox 842"/>
            <p:cNvSpPr/>
            <p:nvPr/>
          </p:nvSpPr>
          <p:spPr>
            <a:xfrm>
              <a:off x="1874763" y="3722715"/>
              <a:ext cx="445134" cy="3657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7310" algn="l" rtl="0" eaLnBrk="0">
                <a:lnSpc>
                  <a:spcPts val="1425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Web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90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客户端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4" name="textbox 844"/>
            <p:cNvSpPr/>
            <p:nvPr/>
          </p:nvSpPr>
          <p:spPr>
            <a:xfrm>
              <a:off x="976800" y="3748957"/>
              <a:ext cx="444500" cy="3511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移动端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83185" algn="l" rtl="0" eaLnBrk="0">
                <a:lnSpc>
                  <a:spcPct val="87000"/>
                </a:lnSpc>
                <a:spcBef>
                  <a:spcPts val="270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App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6" name="textbox 846"/>
            <p:cNvSpPr/>
            <p:nvPr/>
          </p:nvSpPr>
          <p:spPr>
            <a:xfrm>
              <a:off x="3742018" y="3749238"/>
              <a:ext cx="445134" cy="337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物联网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5875" algn="l" rtl="0" eaLnBrk="0">
                <a:lnSpc>
                  <a:spcPct val="87000"/>
                </a:lnSpc>
                <a:spcBef>
                  <a:spcPts val="170"/>
                </a:spcBef>
              </a:pPr>
              <a:r>
                <a:rPr sz="1100" kern="0" spc="-2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云平台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8" name="textbox 848"/>
            <p:cNvSpPr/>
            <p:nvPr/>
          </p:nvSpPr>
          <p:spPr>
            <a:xfrm>
              <a:off x="10105419" y="3749098"/>
              <a:ext cx="304800" cy="337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碳管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180"/>
                </a:spcBef>
              </a:pPr>
              <a:r>
                <a:rPr sz="1100" kern="0" spc="-10" dirty="0">
                  <a:solidFill>
                    <a:srgbClr val="40404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理师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50" name="textbox 850"/>
          <p:cNvSpPr/>
          <p:nvPr/>
        </p:nvSpPr>
        <p:spPr>
          <a:xfrm>
            <a:off x="-12700" y="-12700"/>
            <a:ext cx="11705590" cy="2145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04850" algn="l" rtl="0" eaLnBrk="0">
              <a:lnSpc>
                <a:spcPct val="83000"/>
              </a:lnSpc>
              <a:spcBef>
                <a:spcPts val="139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知鱼</a:t>
            </a:r>
            <a:r>
              <a:rPr sz="1500" kern="0" spc="-5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”智慧能源运维管理平台是依托于知鱼</a:t>
            </a:r>
            <a:r>
              <a:rPr lang="zh-CN"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智联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多年能源运维经验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，基于大数据与云计算、物联网、边缘计算、人工智能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23570" algn="l" rtl="0" eaLnBrk="0">
              <a:lnSpc>
                <a:spcPct val="153000"/>
              </a:lnSpc>
              <a:spcBef>
                <a:spcPts val="45"/>
              </a:spcBef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技术自主研发的智慧能源管理的数字孪生系统，通过智慧管理端与设备运维事务管理的智慧结合，实现实时在线、多点捕捉、耦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合分析、并能完成以能效为约束的多目标运行决策优化，在保证质量的前提下，帮助客户完成节能降碳管理的一款新智慧化管理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工具，是能源设备的ERP，也是助力企业数字化低碳转型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的SaaS系统。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58" name="textbox 858"/>
          <p:cNvSpPr/>
          <p:nvPr/>
        </p:nvSpPr>
        <p:spPr>
          <a:xfrm>
            <a:off x="840445" y="5941228"/>
            <a:ext cx="582930" cy="33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78740" algn="l" rtl="0" eaLnBrk="0">
              <a:lnSpc>
                <a:spcPct val="93000"/>
              </a:lnSpc>
            </a:pPr>
            <a:r>
              <a:rPr sz="1100" kern="0" spc="-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中控室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调度大屏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picture 860"/>
          <p:cNvPicPr>
            <a:picLocks noChangeAspect="1"/>
          </p:cNvPicPr>
          <p:nvPr/>
        </p:nvPicPr>
        <p:blipFill>
          <a:blip r:embed="rId1"/>
          <a:srcRect l="67824" t="451" r="-92"/>
          <a:stretch>
            <a:fillRect/>
          </a:stretch>
        </p:blipFill>
        <p:spPr>
          <a:xfrm>
            <a:off x="8966835" y="2371090"/>
            <a:ext cx="2662555" cy="4068445"/>
          </a:xfrm>
          <a:prstGeom prst="rect">
            <a:avLst/>
          </a:prstGeom>
        </p:spPr>
      </p:pic>
      <p:sp>
        <p:nvSpPr>
          <p:cNvPr id="862" name="textbox 862"/>
          <p:cNvSpPr/>
          <p:nvPr/>
        </p:nvSpPr>
        <p:spPr>
          <a:xfrm>
            <a:off x="9281795" y="2813050"/>
            <a:ext cx="2158365" cy="264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700" b="1" kern="0" spc="-10" baseline="-400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05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       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自动化派单派工系统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  <a:spcBef>
                <a:spcPts val="535"/>
              </a:spcBef>
            </a:pPr>
            <a:r>
              <a:rPr sz="2700" b="1" kern="0" spc="-10" baseline="-400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06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      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能源管理系统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535"/>
              </a:spcBef>
            </a:pPr>
            <a:r>
              <a:rPr sz="2700" b="1" kern="0" spc="-10" baseline="-400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07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       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库存管理系统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2700" b="1" kern="0" spc="-10" baseline="-400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08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Impact" panose="020B0806030902050204"/>
                <a:ea typeface="Impact" panose="020B0806030902050204"/>
                <a:cs typeface="Impact" panose="020B0806030902050204"/>
              </a:rPr>
              <a:t>      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行政管理系统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4" name="textbox 864"/>
          <p:cNvSpPr/>
          <p:nvPr/>
        </p:nvSpPr>
        <p:spPr>
          <a:xfrm>
            <a:off x="-12700" y="-12700"/>
            <a:ext cx="11705590" cy="1706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智慧能源平台（</a:t>
            </a:r>
            <a:r>
              <a:rPr sz="2300" b="1" kern="0" spc="-4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“富慧能”平台）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03580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90" dirty="0">
                <a:solidFill>
                  <a:srgbClr val="0EC063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80" dirty="0">
                <a:solidFill>
                  <a:srgbClr val="0EC063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平台基于物联网的实时采集的海量设备数据，并将数据与设备运维事务管理、设备监测、</a:t>
            </a:r>
            <a:r>
              <a:rPr sz="1500" kern="0" spc="-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自动化工单、智能分析结合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79805" algn="l" rtl="0" eaLnBrk="0">
              <a:lnSpc>
                <a:spcPts val="289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在一起，</a:t>
            </a:r>
            <a:r>
              <a:rPr sz="1500" kern="0" spc="-4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以实现持续洞察和改进效率的目标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，实现真正的节能、降费、增效。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571500" y="2678112"/>
            <a:ext cx="2397252" cy="514350"/>
            <a:chOff x="0" y="0"/>
            <a:chExt cx="2397252" cy="514350"/>
          </a:xfrm>
        </p:grpSpPr>
        <p:pic>
          <p:nvPicPr>
            <p:cNvPr id="872" name="picture 8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397252" cy="514350"/>
            </a:xfrm>
            <a:prstGeom prst="rect">
              <a:avLst/>
            </a:prstGeom>
          </p:spPr>
        </p:pic>
        <p:sp>
          <p:nvSpPr>
            <p:cNvPr id="874" name="textbox 874"/>
            <p:cNvSpPr/>
            <p:nvPr/>
          </p:nvSpPr>
          <p:spPr>
            <a:xfrm>
              <a:off x="-12700" y="-12700"/>
              <a:ext cx="2423160" cy="5594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9540" algn="l" rtl="0" eaLnBrk="0">
                <a:lnSpc>
                  <a:spcPct val="80000"/>
                </a:lnSpc>
              </a:pPr>
              <a:r>
                <a:rPr sz="2700" b="1" kern="0" spc="-20" baseline="-200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01</a:t>
              </a:r>
              <a:r>
                <a:rPr sz="1700" kern="0" spc="3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        </a:t>
              </a: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中控室调度大屏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571500" y="3486150"/>
            <a:ext cx="2397252" cy="514350"/>
            <a:chOff x="0" y="0"/>
            <a:chExt cx="2397252" cy="514350"/>
          </a:xfrm>
        </p:grpSpPr>
        <p:pic>
          <p:nvPicPr>
            <p:cNvPr id="876" name="picture 8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97252" cy="514350"/>
            </a:xfrm>
            <a:prstGeom prst="rect">
              <a:avLst/>
            </a:prstGeom>
          </p:spPr>
        </p:pic>
        <p:sp>
          <p:nvSpPr>
            <p:cNvPr id="878" name="textbox 878"/>
            <p:cNvSpPr/>
            <p:nvPr/>
          </p:nvSpPr>
          <p:spPr>
            <a:xfrm>
              <a:off x="-12700" y="-12700"/>
              <a:ext cx="2423160" cy="551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3190" algn="l" rtl="0" eaLnBrk="0">
                <a:lnSpc>
                  <a:spcPct val="75000"/>
                </a:lnSpc>
              </a:pPr>
              <a:r>
                <a:rPr sz="2700" b="1" kern="0" spc="10" baseline="-600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02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        </a:t>
              </a:r>
              <a:r>
                <a:rPr sz="2100" b="1" kern="0" spc="10" baseline="2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物联网云平台</a:t>
              </a:r>
              <a:endParaRPr sz="2100" baseline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571500" y="4295775"/>
            <a:ext cx="2397252" cy="514350"/>
            <a:chOff x="0" y="0"/>
            <a:chExt cx="2397252" cy="514350"/>
          </a:xfrm>
        </p:grpSpPr>
        <p:pic>
          <p:nvPicPr>
            <p:cNvPr id="880" name="picture 8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97252" cy="514350"/>
            </a:xfrm>
            <a:prstGeom prst="rect">
              <a:avLst/>
            </a:prstGeom>
          </p:spPr>
        </p:pic>
        <p:sp>
          <p:nvSpPr>
            <p:cNvPr id="882" name="textbox 882"/>
            <p:cNvSpPr/>
            <p:nvPr/>
          </p:nvSpPr>
          <p:spPr>
            <a:xfrm>
              <a:off x="-12700" y="-12700"/>
              <a:ext cx="2423160" cy="551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3190" algn="l" rtl="0" eaLnBrk="0">
                <a:lnSpc>
                  <a:spcPct val="75000"/>
                </a:lnSpc>
                <a:spcBef>
                  <a:spcPts val="0"/>
                </a:spcBef>
              </a:pPr>
              <a:r>
                <a:rPr sz="2700" b="1" kern="0" spc="10" baseline="-600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03</a:t>
              </a:r>
              <a:r>
                <a:rPr sz="1700" kern="0" spc="4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       </a:t>
              </a:r>
              <a:r>
                <a:rPr sz="2100" b="1" kern="0" spc="10" baseline="2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设备监控系统</a:t>
              </a:r>
              <a:endParaRPr sz="2100" baseline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571500" y="5103812"/>
            <a:ext cx="2397252" cy="514350"/>
            <a:chOff x="0" y="0"/>
            <a:chExt cx="2397252" cy="514350"/>
          </a:xfrm>
        </p:grpSpPr>
        <p:pic>
          <p:nvPicPr>
            <p:cNvPr id="884" name="picture 8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397252" cy="514350"/>
            </a:xfrm>
            <a:prstGeom prst="rect">
              <a:avLst/>
            </a:prstGeom>
          </p:spPr>
        </p:pic>
        <p:sp>
          <p:nvSpPr>
            <p:cNvPr id="886" name="textbox 886"/>
            <p:cNvSpPr/>
            <p:nvPr/>
          </p:nvSpPr>
          <p:spPr>
            <a:xfrm>
              <a:off x="-12700" y="-12700"/>
              <a:ext cx="2423160" cy="551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3190" algn="l" rtl="0" eaLnBrk="0">
                <a:lnSpc>
                  <a:spcPct val="75000"/>
                </a:lnSpc>
              </a:pPr>
              <a:r>
                <a:rPr sz="2700" b="1" kern="0" spc="10" baseline="-600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04</a:t>
              </a:r>
              <a:r>
                <a:rPr sz="1700" kern="0" spc="0" dirty="0">
                  <a:solidFill>
                    <a:srgbClr val="FFFFFF">
                      <a:alpha val="100000"/>
                    </a:srgbClr>
                  </a:solidFill>
                  <a:latin typeface="Impact" panose="020B0806030902050204"/>
                  <a:ea typeface="Impact" panose="020B0806030902050204"/>
                  <a:cs typeface="Impact" panose="020B0806030902050204"/>
                </a:rPr>
                <a:t>        </a:t>
              </a:r>
              <a:r>
                <a:rPr sz="2100" b="1" kern="0" spc="10" baseline="2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维修保养系统</a:t>
              </a:r>
              <a:endParaRPr sz="2100" baseline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 rot="21600000">
            <a:off x="1314894" y="1365334"/>
            <a:ext cx="7088497" cy="4688557"/>
            <a:chOff x="0" y="0"/>
            <a:chExt cx="7088497" cy="4688557"/>
          </a:xfrm>
        </p:grpSpPr>
        <p:pic>
          <p:nvPicPr>
            <p:cNvPr id="888" name="picture 88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088497" cy="4688557"/>
            </a:xfrm>
            <a:prstGeom prst="rect">
              <a:avLst/>
            </a:prstGeom>
          </p:spPr>
        </p:pic>
        <p:sp>
          <p:nvSpPr>
            <p:cNvPr id="890" name="textbox 890"/>
            <p:cNvSpPr/>
            <p:nvPr/>
          </p:nvSpPr>
          <p:spPr>
            <a:xfrm>
              <a:off x="3720241" y="1847666"/>
              <a:ext cx="2814954" cy="2767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64310" algn="l" rtl="0" eaLnBrk="0">
                <a:lnSpc>
                  <a:spcPts val="1040"/>
                </a:lnSpc>
              </a:pPr>
              <a:r>
                <a:rPr sz="800" kern="0" spc="-2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DTU/RTU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967105" indent="994410" algn="l" rtl="0" eaLnBrk="0">
                <a:lnSpc>
                  <a:spcPct val="154000"/>
                </a:lnSpc>
                <a:spcBef>
                  <a:spcPts val="840"/>
                </a:spcBef>
              </a:pPr>
              <a:r>
                <a:rPr sz="800" kern="0" spc="-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工业计算机</a:t>
              </a:r>
              <a:r>
                <a:rPr sz="800" kern="0" spc="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r>
                <a:rPr sz="800" kern="0" spc="-20" dirty="0">
                  <a:solidFill>
                    <a:srgbClr val="2626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MQTT</a:t>
              </a:r>
              <a:r>
                <a:rPr sz="800" kern="0" spc="-2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协议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460"/>
                </a:spcBef>
              </a:pP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</a:t>
              </a:r>
              <a:r>
                <a:rPr sz="1500" b="1" kern="0" spc="3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</a:t>
              </a:r>
              <a:r>
                <a:rPr sz="1500" b="1" kern="0" spc="3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1765" algn="l" rtl="0" eaLnBrk="0">
                <a:lnSpc>
                  <a:spcPct val="83000"/>
                </a:lnSpc>
                <a:spcBef>
                  <a:spcPts val="245"/>
                </a:spcBef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物感知平台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7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3000"/>
                </a:lnSpc>
                <a:spcBef>
                  <a:spcPts val="245"/>
                </a:spcBef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在线分析仪表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26110" algn="l" rtl="0" eaLnBrk="0">
                <a:lnSpc>
                  <a:spcPts val="2485"/>
                </a:lnSpc>
              </a:pPr>
              <a:r>
                <a:rPr sz="1200" kern="0" spc="10" baseline="-32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计量仪表</a:t>
              </a:r>
              <a:r>
                <a:rPr sz="700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        </a:t>
              </a:r>
              <a:r>
                <a:rPr sz="1200" kern="0" spc="10" baseline="-15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工控</a:t>
              </a:r>
              <a:r>
                <a:rPr sz="1200" kern="0" spc="0" baseline="-15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仪表</a:t>
              </a:r>
              <a:endParaRPr sz="1200" baseline="-15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5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0"/>
                </a:spcBef>
              </a:pP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感</a:t>
              </a:r>
              <a:r>
                <a:rPr sz="1500" b="1" kern="0" spc="2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知</a:t>
              </a:r>
              <a:r>
                <a:rPr sz="15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2" name="textbox 892"/>
            <p:cNvSpPr/>
            <p:nvPr/>
          </p:nvSpPr>
          <p:spPr>
            <a:xfrm>
              <a:off x="1857351" y="1873066"/>
              <a:ext cx="1821814" cy="22815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52780" algn="l" rtl="0" eaLnBrk="0">
                <a:lnSpc>
                  <a:spcPts val="1040"/>
                </a:lnSpc>
              </a:pPr>
              <a:r>
                <a:rPr sz="800" kern="0" spc="-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LoRa/NB-Iot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10185" algn="l" rtl="0" eaLnBrk="0">
                <a:lnSpc>
                  <a:spcPts val="1910"/>
                </a:lnSpc>
              </a:pPr>
              <a:r>
                <a:rPr sz="800" kern="0" spc="-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2G/3G/4G/5G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789940" algn="l" rtl="0" eaLnBrk="0">
                <a:lnSpc>
                  <a:spcPct val="87000"/>
                </a:lnSpc>
                <a:spcBef>
                  <a:spcPts val="815"/>
                </a:spcBef>
              </a:pPr>
              <a:r>
                <a:rPr sz="800" kern="0" spc="-10" dirty="0">
                  <a:solidFill>
                    <a:srgbClr val="2626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透明传输或定制协议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41045" algn="l" rtl="0" eaLnBrk="0">
                <a:lnSpc>
                  <a:spcPct val="87000"/>
                </a:lnSpc>
                <a:spcBef>
                  <a:spcPts val="240"/>
                </a:spcBef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水资源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245"/>
                </a:spcBef>
              </a:pPr>
              <a:r>
                <a:rPr sz="8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电能耗</a:t>
              </a:r>
              <a:endParaRPr sz="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1000"/>
                </a:lnSpc>
              </a:pPr>
              <a:r>
                <a:rPr sz="1200" kern="0" spc="10" baseline="9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燃气</a:t>
              </a:r>
              <a:r>
                <a:rPr sz="700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7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</a:t>
              </a:r>
              <a:r>
                <a:rPr sz="1200" kern="0" spc="10" baseline="-40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冷量</a:t>
              </a:r>
              <a:endParaRPr sz="1200" baseline="-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4" name="textbox 894"/>
            <p:cNvSpPr/>
            <p:nvPr/>
          </p:nvSpPr>
          <p:spPr>
            <a:xfrm>
              <a:off x="2402992" y="240669"/>
              <a:ext cx="939164" cy="674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3670" algn="l" rtl="0" eaLnBrk="0">
                <a:lnSpc>
                  <a:spcPct val="87000"/>
                </a:lnSpc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云端存储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8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数字孪生工厂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6" name="textbox 896"/>
            <p:cNvSpPr/>
            <p:nvPr/>
          </p:nvSpPr>
          <p:spPr>
            <a:xfrm>
              <a:off x="4955006" y="240974"/>
              <a:ext cx="791844" cy="674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大数据分析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8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415" algn="l" rtl="0" eaLnBrk="0">
                <a:lnSpc>
                  <a:spcPct val="87000"/>
                </a:lnSpc>
                <a:spcBef>
                  <a:spcPts val="0"/>
                </a:spcBef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移动互联网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8" name="textbox 898"/>
            <p:cNvSpPr/>
            <p:nvPr/>
          </p:nvSpPr>
          <p:spPr>
            <a:xfrm>
              <a:off x="3720646" y="1192959"/>
              <a:ext cx="814069" cy="2260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</a:t>
              </a:r>
              <a:r>
                <a:rPr sz="1500" b="1" kern="0" spc="3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</a:t>
              </a:r>
              <a:r>
                <a:rPr sz="1500" b="1" kern="0" spc="3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0" name="textbox 900"/>
            <p:cNvSpPr/>
            <p:nvPr/>
          </p:nvSpPr>
          <p:spPr>
            <a:xfrm>
              <a:off x="215569" y="1951689"/>
              <a:ext cx="70802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物联网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2" name="textbox 902"/>
            <p:cNvSpPr/>
            <p:nvPr/>
          </p:nvSpPr>
          <p:spPr>
            <a:xfrm>
              <a:off x="3858336" y="538890"/>
              <a:ext cx="561340" cy="1612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SCADA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04" name="textbox 904"/>
          <p:cNvSpPr/>
          <p:nvPr/>
        </p:nvSpPr>
        <p:spPr>
          <a:xfrm>
            <a:off x="1120936" y="2633739"/>
            <a:ext cx="10436225" cy="3614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07910" indent="-1905" algn="l" rtl="0" eaLnBrk="0">
              <a:lnSpc>
                <a:spcPct val="108000"/>
              </a:lnSpc>
            </a:pPr>
            <a:r>
              <a:rPr sz="1400" kern="0" spc="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平台海量数据实时保存，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应用大数据分</a:t>
            </a:r>
            <a:r>
              <a:rPr sz="1400" kern="0" spc="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析技术实时挖掘数据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价值，预测潜在风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险，为科学管理设备提供数据支撑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09180" indent="-2540" algn="l" rtl="0" eaLnBrk="0">
              <a:lnSpc>
                <a:spcPct val="112000"/>
              </a:lnSpc>
              <a:spcBef>
                <a:spcPts val="915"/>
              </a:spcBef>
            </a:pPr>
            <a:r>
              <a:rPr sz="1400" kern="0" spc="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通过分析采集的设备数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据，实现智能 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设备调度，实时告警维护以及精细化</a:t>
            </a:r>
            <a:r>
              <a:rPr sz="1400" kern="0" spc="2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管理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algn="l" rtl="0" eaLnBrk="0">
              <a:lnSpc>
                <a:spcPct val="84000"/>
              </a:lnSpc>
              <a:spcBef>
                <a:spcPts val="380"/>
              </a:spcBef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通过有线、无线、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900"/>
              </a:lnSpc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机器视觉识别等方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6510" algn="l" rtl="0" eaLnBrk="0">
              <a:lnSpc>
                <a:spcPts val="1900"/>
              </a:lnSpc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式全面接入各类设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" algn="l" rtl="0" eaLnBrk="0">
              <a:lnSpc>
                <a:spcPts val="1900"/>
              </a:lnSpc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327900" indent="-20320" algn="l" rtl="0" eaLnBrk="0">
              <a:lnSpc>
                <a:spcPct val="115000"/>
              </a:lnSpc>
              <a:spcBef>
                <a:spcPts val="0"/>
              </a:spcBef>
            </a:pPr>
            <a:r>
              <a:rPr sz="1400" kern="0" spc="5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机器视觉识别读表技术帮助解决行业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kern="0" spc="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内设备无法数字化的痛点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，识别率99% </a:t>
            </a:r>
            <a:r>
              <a:rPr sz="1300" kern="0" spc="-4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sz="1300" kern="0" spc="1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</a:t>
            </a:r>
            <a:r>
              <a:rPr sz="1300" kern="0" spc="-4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</a:t>
            </a:r>
            <a:endParaRPr sz="1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6" name="textbox 906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9294317" y="4063631"/>
            <a:ext cx="1337665" cy="1337652"/>
            <a:chOff x="0" y="0"/>
            <a:chExt cx="1337665" cy="1337652"/>
          </a:xfrm>
        </p:grpSpPr>
        <p:sp>
          <p:nvSpPr>
            <p:cNvPr id="914" name="path 914"/>
            <p:cNvSpPr/>
            <p:nvPr/>
          </p:nvSpPr>
          <p:spPr>
            <a:xfrm>
              <a:off x="0" y="0"/>
              <a:ext cx="1337665" cy="1337652"/>
            </a:xfrm>
            <a:custGeom>
              <a:avLst/>
              <a:gdLst/>
              <a:ahLst/>
              <a:cxnLst/>
              <a:rect l="0" t="0" r="0" b="0"/>
              <a:pathLst>
                <a:path w="2106" h="2106">
                  <a:moveTo>
                    <a:pt x="0" y="1052"/>
                  </a:moveTo>
                  <a:cubicBezTo>
                    <a:pt x="0" y="471"/>
                    <a:pt x="471" y="0"/>
                    <a:pt x="1053" y="0"/>
                  </a:cubicBezTo>
                  <a:cubicBezTo>
                    <a:pt x="1634" y="0"/>
                    <a:pt x="2106" y="471"/>
                    <a:pt x="2106" y="1053"/>
                  </a:cubicBezTo>
                  <a:cubicBezTo>
                    <a:pt x="2106" y="1634"/>
                    <a:pt x="1634" y="2106"/>
                    <a:pt x="1053" y="2106"/>
                  </a:cubicBezTo>
                  <a:cubicBezTo>
                    <a:pt x="471" y="2106"/>
                    <a:pt x="0" y="1634"/>
                    <a:pt x="0" y="1052"/>
                  </a:cubicBezTo>
                </a:path>
              </a:pathLst>
            </a:custGeom>
            <a:solidFill>
              <a:srgbClr val="152A1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16" name="textbox 916"/>
            <p:cNvSpPr/>
            <p:nvPr/>
          </p:nvSpPr>
          <p:spPr>
            <a:xfrm>
              <a:off x="201613" y="411352"/>
              <a:ext cx="937260" cy="5562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7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机器视觉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88000"/>
                </a:lnSpc>
                <a:spcBef>
                  <a:spcPts val="5"/>
                </a:spcBef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无线扫表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9393935" y="1347317"/>
            <a:ext cx="1138034" cy="1137627"/>
            <a:chOff x="0" y="0"/>
            <a:chExt cx="1138034" cy="1137627"/>
          </a:xfrm>
        </p:grpSpPr>
        <p:sp>
          <p:nvSpPr>
            <p:cNvPr id="918" name="path 918"/>
            <p:cNvSpPr/>
            <p:nvPr/>
          </p:nvSpPr>
          <p:spPr>
            <a:xfrm>
              <a:off x="0" y="0"/>
              <a:ext cx="1138034" cy="1137627"/>
            </a:xfrm>
            <a:custGeom>
              <a:avLst/>
              <a:gdLst/>
              <a:ahLst/>
              <a:cxnLst/>
              <a:rect l="0" t="0" r="0" b="0"/>
              <a:pathLst>
                <a:path w="1792" h="1791">
                  <a:moveTo>
                    <a:pt x="0" y="895"/>
                  </a:moveTo>
                  <a:cubicBezTo>
                    <a:pt x="0" y="401"/>
                    <a:pt x="401" y="0"/>
                    <a:pt x="896" y="0"/>
                  </a:cubicBezTo>
                  <a:cubicBezTo>
                    <a:pt x="1391" y="0"/>
                    <a:pt x="1792" y="401"/>
                    <a:pt x="1792" y="895"/>
                  </a:cubicBezTo>
                  <a:cubicBezTo>
                    <a:pt x="1792" y="1390"/>
                    <a:pt x="1391" y="1791"/>
                    <a:pt x="896" y="1791"/>
                  </a:cubicBezTo>
                  <a:cubicBezTo>
                    <a:pt x="401" y="1791"/>
                    <a:pt x="0" y="1390"/>
                    <a:pt x="0" y="895"/>
                  </a:cubicBezTo>
                </a:path>
              </a:pathLst>
            </a:custGeom>
            <a:solidFill>
              <a:srgbClr val="6AC1C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textbox 920"/>
            <p:cNvSpPr/>
            <p:nvPr/>
          </p:nvSpPr>
          <p:spPr>
            <a:xfrm>
              <a:off x="221323" y="431444"/>
              <a:ext cx="70358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7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云计算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22" name="textbox 922"/>
          <p:cNvSpPr/>
          <p:nvPr/>
        </p:nvSpPr>
        <p:spPr>
          <a:xfrm>
            <a:off x="6701011" y="4740243"/>
            <a:ext cx="329565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textbox 924"/>
          <p:cNvSpPr/>
          <p:nvPr/>
        </p:nvSpPr>
        <p:spPr>
          <a:xfrm>
            <a:off x="730046" y="1105243"/>
            <a:ext cx="5245734" cy="4304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" algn="l" rtl="0" eaLnBrk="0">
              <a:lnSpc>
                <a:spcPct val="86000"/>
              </a:lnSpc>
            </a:pPr>
            <a:r>
              <a:rPr sz="2000" b="1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平台系统主要功能：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6000"/>
              </a:lnSpc>
              <a:spcBef>
                <a:spcPts val="610"/>
              </a:spcBef>
            </a:pPr>
            <a:r>
              <a:rPr sz="2000" b="1" kern="0" spc="-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1、能源管理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indent="-282575" algn="l" rtl="0" eaLnBrk="0">
              <a:lnSpc>
                <a:spcPct val="150000"/>
              </a:lnSpc>
              <a:spcBef>
                <a:spcPts val="255"/>
              </a:spcBef>
            </a:pP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平台通过广泛支持的仪表接入协议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，将不同计量器具采集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的不同介质的能耗汇总、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包括用电、用水、燃气消耗、冷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量消耗等，都可以计算并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展示在平台，可灵活切换想要展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示的能耗种类。因此当需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要增加能耗监测种类时，无需另</a:t>
            </a:r>
            <a:r>
              <a:rPr sz="1500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外建设系统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6545" indent="-284480" algn="l" rtl="0" eaLnBrk="0">
              <a:lnSpc>
                <a:spcPct val="149000"/>
              </a:lnSpc>
              <a:spcBef>
                <a:spcPts val="50"/>
              </a:spcBef>
            </a:pP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平台可按能耗分类对各级区域、各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级用能支路监测状况和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分类分项能耗状况进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行统计和分析，并以数据图表的方式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展示，可进行环比、同比等分析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10515" indent="-297815" algn="l" rtl="0" eaLnBrk="0">
              <a:lnSpc>
                <a:spcPct val="149000"/>
              </a:lnSpc>
              <a:spcBef>
                <a:spcPts val="35"/>
              </a:spcBef>
            </a:pP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根据项目能耗管理需求，设置本地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能耗数据存储，存储时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间5年以上，以便能</a:t>
            </a:r>
            <a:r>
              <a:rPr sz="1500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耗对比查询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30" name="textbox 930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2"/>
          <p:cNvSpPr/>
          <p:nvPr/>
        </p:nvSpPr>
        <p:spPr>
          <a:xfrm>
            <a:off x="713676" y="3947921"/>
            <a:ext cx="5215890" cy="207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8000"/>
              </a:lnSpc>
            </a:pPr>
            <a:r>
              <a:rPr sz="1700" b="1" kern="0" spc="7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3、能耗指标分析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3000"/>
              </a:lnSpc>
              <a:spcBef>
                <a:spcPts val="900"/>
              </a:spcBef>
            </a:pP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各分类、分区、分功能能源总量用能分析，包含对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项目用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910" indent="20955" algn="l" rtl="0" eaLnBrk="0">
              <a:lnSpc>
                <a:spcPct val="132000"/>
              </a:lnSpc>
              <a:spcBef>
                <a:spcPts val="30"/>
              </a:spcBef>
            </a:pPr>
            <a:r>
              <a:rPr sz="1500" kern="0" spc="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电、用水、用冷/热量等能源指标分析，根据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改造前后双方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测试认可的节能率以及计算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公式，系统后台自动核算各节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能技改项目的节能量，并可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趋势曲线显示和报表查询、诊</a:t>
            </a:r>
            <a:r>
              <a:rPr sz="1500" kern="0" spc="10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断，发现某时段异常能耗并提示</a:t>
            </a:r>
            <a:r>
              <a:rPr sz="1500" kern="0" spc="-4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500" kern="0" spc="9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将采集的参数进行处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理、运算，最后在平台进行可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视化展示能源指标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44" name="textbox 944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0" name="textbox 950"/>
          <p:cNvSpPr/>
          <p:nvPr/>
        </p:nvSpPr>
        <p:spPr>
          <a:xfrm>
            <a:off x="713676" y="1601368"/>
            <a:ext cx="5215890" cy="134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86000"/>
              </a:lnSpc>
            </a:pPr>
            <a:r>
              <a:rPr sz="2000" b="1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2、设备数字化监控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4640" indent="-281940" algn="l" rtl="0" eaLnBrk="0">
              <a:lnSpc>
                <a:spcPct val="149000"/>
              </a:lnSpc>
              <a:spcBef>
                <a:spcPts val="290"/>
              </a:spcBef>
            </a:pP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通过3D可视化引擎及云组态技术，实现对各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子系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统、能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源站房、设备系统级重点设备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的远程监测，可实时查看设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备状态、重要参数变化趋势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及异常告警信息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textbox 954"/>
          <p:cNvSpPr/>
          <p:nvPr/>
        </p:nvSpPr>
        <p:spPr>
          <a:xfrm>
            <a:off x="713676" y="3678136"/>
            <a:ext cx="5051425" cy="2378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</a:pPr>
            <a:r>
              <a:rPr sz="2000" b="1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5、运维调度派单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245"/>
              </a:spcBef>
            </a:pP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工单未处理超时、工单维修超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时设置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indent="-283210" algn="l" rtl="0" eaLnBrk="0">
              <a:lnSpc>
                <a:spcPct val="150000"/>
              </a:lnSpc>
              <a:spcBef>
                <a:spcPts val="165"/>
              </a:spcBef>
            </a:pP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超期维保和维保异常自动提醒，巡检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设备异常时，支持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巡检人员通过移动终端直接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报修，生成维修工单，并自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动发送给相关人员，保证巡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检与维修的无缝链接。支持</a:t>
            </a:r>
            <a:r>
              <a:rPr sz="1500" kern="0" spc="6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不同人员对同一类设备做多</a:t>
            </a:r>
            <a:r>
              <a:rPr sz="1500" kern="0" spc="5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级巡检，多级巡检结果能够</a:t>
            </a:r>
            <a:r>
              <a:rPr sz="1500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快速查询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60" name="textbox 960"/>
          <p:cNvSpPr/>
          <p:nvPr/>
        </p:nvSpPr>
        <p:spPr>
          <a:xfrm>
            <a:off x="711581" y="1065809"/>
            <a:ext cx="4875529" cy="207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700" b="1" kern="0" spc="8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4、运维报警中心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05" algn="l" rtl="0" eaLnBrk="0">
              <a:lnSpc>
                <a:spcPct val="83000"/>
              </a:lnSpc>
              <a:spcBef>
                <a:spcPts val="900"/>
              </a:spcBef>
            </a:pP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设备越线报警或者故障报警被触发，各方运维人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员能够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6545" indent="6985" algn="l" rtl="0" eaLnBrk="0">
              <a:lnSpc>
                <a:spcPct val="135000"/>
              </a:lnSpc>
              <a:spcBef>
                <a:spcPts val="30"/>
              </a:spcBef>
            </a:pP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收到短信、微信提醒，同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时也会触发自控平台报警弹窗</a:t>
            </a:r>
            <a:r>
              <a:rPr sz="1500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及声音报警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7180" indent="-282575" algn="l" rtl="0" eaLnBrk="0">
              <a:lnSpc>
                <a:spcPct val="129000"/>
              </a:lnSpc>
              <a:spcBef>
                <a:spcPts val="55"/>
              </a:spcBef>
            </a:pP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调度员可由监控屏实时远程查看报警设备系统状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态，包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括发生报警的区域地图，值班人员信息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，触发报警的传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感器列表及参数信息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62" name="textbox 962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box 974"/>
          <p:cNvSpPr/>
          <p:nvPr/>
        </p:nvSpPr>
        <p:spPr>
          <a:xfrm>
            <a:off x="-12700" y="-12700"/>
            <a:ext cx="1170559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ts val="3165"/>
              </a:lnSpc>
              <a:tabLst>
                <a:tab pos="982980" algn="l"/>
              </a:tabLst>
            </a:pPr>
            <a:r>
              <a:rPr sz="23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知鱼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智慧能源平台                         </a:t>
            </a:r>
            <a:r>
              <a:rPr sz="2300" b="1" kern="0" spc="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0" name="textbox 980"/>
          <p:cNvSpPr/>
          <p:nvPr/>
        </p:nvSpPr>
        <p:spPr>
          <a:xfrm>
            <a:off x="762482" y="3721303"/>
            <a:ext cx="4403725" cy="1350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86000"/>
              </a:lnSpc>
            </a:pPr>
            <a:r>
              <a:rPr sz="2000" b="1" kern="0" spc="-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7、项目环境分析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indent="-283210" algn="l" rtl="0" eaLnBrk="0">
              <a:lnSpc>
                <a:spcPct val="149000"/>
              </a:lnSpc>
              <a:spcBef>
                <a:spcPts val="315"/>
              </a:spcBef>
            </a:pP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在重点区域设置温湿、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2浓度传感器、</a:t>
            </a:r>
            <a:r>
              <a:rPr sz="1500" kern="0" spc="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PM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</a:t>
            </a:r>
            <a:r>
              <a:rPr sz="1500" kern="0" spc="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</a:t>
            </a:r>
            <a:r>
              <a:rPr sz="1500" kern="0" spc="4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感器，监测室内环境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质量指标，以及环境参数分</a:t>
            </a:r>
            <a:r>
              <a:rPr sz="1500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区显示与分析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2" name="textbox 982"/>
          <p:cNvSpPr/>
          <p:nvPr/>
        </p:nvSpPr>
        <p:spPr>
          <a:xfrm>
            <a:off x="762482" y="1740103"/>
            <a:ext cx="4403725" cy="100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6000"/>
              </a:lnSpc>
            </a:pPr>
            <a:r>
              <a:rPr sz="2000" b="1" kern="0" spc="-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6、碳排放计量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5275" indent="-282575" algn="l" rtl="0" eaLnBrk="0">
              <a:lnSpc>
                <a:spcPct val="149000"/>
              </a:lnSpc>
              <a:spcBef>
                <a:spcPts val="290"/>
              </a:spcBef>
            </a:pP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</a:t>
            </a:r>
            <a:r>
              <a:rPr sz="1500" kern="0" spc="3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系统将各分类能源、分区能耗按照电网基准线</a:t>
            </a:r>
            <a:r>
              <a:rPr sz="1500" kern="0" spc="2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</a:t>
            </a:r>
            <a:r>
              <a:rPr sz="1500" kern="0" spc="-10" dirty="0">
                <a:solidFill>
                  <a:srgbClr val="40404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放因子折算碳排放量，并系统显示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988"/>
          <p:cNvSpPr/>
          <p:nvPr/>
        </p:nvSpPr>
        <p:spPr>
          <a:xfrm>
            <a:off x="6050089" y="2830576"/>
            <a:ext cx="5615940" cy="1173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985" algn="l" rtl="0" eaLnBrk="0">
              <a:lnSpc>
                <a:spcPct val="84000"/>
              </a:lnSpc>
              <a:spcBef>
                <a:spcPts val="0"/>
              </a:spcBef>
              <a:tabLst>
                <a:tab pos="1365885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效益、</a:t>
            </a:r>
            <a:r>
              <a:rPr sz="3900" b="1" kern="0" spc="-78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900" b="1" kern="0" spc="22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投资估算及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68425" algn="l" rtl="0" eaLnBrk="0">
              <a:lnSpc>
                <a:spcPct val="87000"/>
              </a:lnSpc>
              <a:spcBef>
                <a:spcPts val="915"/>
              </a:spcBef>
            </a:pPr>
            <a:r>
              <a:rPr sz="3900" b="1" kern="0" spc="2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合作模式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textbox 996"/>
          <p:cNvSpPr/>
          <p:nvPr/>
        </p:nvSpPr>
        <p:spPr>
          <a:xfrm>
            <a:off x="758242" y="1115454"/>
            <a:ext cx="10815319" cy="4233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一．</a:t>
            </a:r>
            <a:r>
              <a:rPr sz="1400" kern="0" spc="-27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合同能源管理总费用确认方式（城东院区）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1）第一年托管周期基准费用包括电费和水费，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1206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1968.41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万元(平均电价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0.7106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元/kWh计算，即基准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电量为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2769.98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万kWh)；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499995" indent="2082800" algn="l" rtl="0" eaLnBrk="0">
              <a:lnSpc>
                <a:spcPct val="157000"/>
              </a:lnSpc>
              <a:spcBef>
                <a:spcPts val="240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基准电量以2024年1月-2024年12月实际电量加总得出，平均电价为2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024年1月-12月平均电价。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水费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144.04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万元（平均水价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3.82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元/吨计算，即基准水量为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37.6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万吨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40000" indent="2043430" algn="l" rtl="0" eaLnBrk="0">
              <a:lnSpc>
                <a:spcPct val="157000"/>
              </a:lnSpc>
              <a:spcBef>
                <a:spcPts val="140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基准水量以2024年1月-2024年12月实际水量加总得出，平均水价为2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024年1月-12月平均水价。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燃气费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91.55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万元（平均气价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3.74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NM</a:t>
            </a:r>
            <a:r>
              <a:rPr sz="1400" kern="0" spc="-10" baseline="22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计算，即基准燃气量为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24.49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万NM</a:t>
            </a:r>
            <a:r>
              <a:rPr sz="1400" kern="0" spc="-10" baseline="22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855"/>
              </a:spcBef>
            </a:pP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基准气量以2024年1月-2024年12</a:t>
            </a:r>
            <a:r>
              <a:rPr sz="1200" kern="0" spc="-2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月实际燃气加总得出，平均气价为2024年1月-12月平均气价。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475"/>
              </a:lnSpc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220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万元/年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  <a:spcBef>
                <a:spcPts val="430"/>
              </a:spcBef>
            </a:pP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二．</a:t>
            </a:r>
            <a:r>
              <a:rPr sz="1400" kern="0" spc="-29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合作模式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能源托管缴费模式：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双方签订能源托管合作协议，甲方所有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的能源费用由乙方代缴。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6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费用总包价形式：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每年按月结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算，合作期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限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10年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98" name="textbox 998"/>
          <p:cNvSpPr/>
          <p:nvPr/>
        </p:nvSpPr>
        <p:spPr>
          <a:xfrm>
            <a:off x="947877" y="348564"/>
            <a:ext cx="7582534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项目合作模式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99000"/>
              </a:lnSpc>
              <a:spcBef>
                <a:spcPts val="5"/>
              </a:spcBef>
            </a:pP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合同能源管理服务方案（能源费用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托管型）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extbox 1006"/>
          <p:cNvSpPr/>
          <p:nvPr/>
        </p:nvSpPr>
        <p:spPr>
          <a:xfrm>
            <a:off x="758242" y="1115454"/>
            <a:ext cx="10838180" cy="4782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一．</a:t>
            </a:r>
            <a:r>
              <a:rPr sz="1400" kern="0" spc="-27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合同能源管理总费用确认方式（东街院区）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1）第一年托管周期基准费用包括电费和水费，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1206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687.71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万元(平均电价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0.6850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元/kWh计算，即基准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电量为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1004.01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万kWh)；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1245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基准电量以2023年1月-2024年12月实际电量加总平均得出，平均电价为2023年1月-2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024年12月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85970" algn="l" rtl="0" eaLnBrk="0">
              <a:lnSpc>
                <a:spcPts val="2225"/>
              </a:lnSpc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平均电价。因2022年电价异常，暂不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纳入基准统计范围。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499995" algn="l" rtl="0" eaLnBrk="0">
              <a:lnSpc>
                <a:spcPct val="86000"/>
              </a:lnSpc>
              <a:spcBef>
                <a:spcPts val="10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水费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124.67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万元（平均水价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3.77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元/吨计算，即基准水量为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33.0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万吨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5000"/>
              </a:lnSpc>
              <a:spcBef>
                <a:spcPts val="1245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基准水量以2022年1月-2024年12月实际水量加总平均得出，平均水价为2022年1月-2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024年12月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85970" algn="l" rtl="0" eaLnBrk="0">
              <a:lnSpc>
                <a:spcPts val="2225"/>
              </a:lnSpc>
            </a:pPr>
            <a:r>
              <a:rPr sz="1200" kern="0" spc="-2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平均水价。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37460" algn="l" rtl="0" eaLnBrk="0">
              <a:lnSpc>
                <a:spcPct val="86000"/>
              </a:lnSpc>
              <a:spcBef>
                <a:spcPts val="106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2023年7月后再无燃气费数据，东街院区现已无天燃气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用能器具。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430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812.3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万元/年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  <a:spcBef>
                <a:spcPts val="430"/>
              </a:spcBef>
            </a:pP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二．</a:t>
            </a:r>
            <a:r>
              <a:rPr sz="1400" kern="0" spc="-29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合作模式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能源托管缴费模式：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双方签订能源托管合作协议，甲方所有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的能源费用由乙方代缴。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6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费用总包价形式：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每年按月结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算，合作期限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10年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08" name="textbox 1008"/>
          <p:cNvSpPr/>
          <p:nvPr/>
        </p:nvSpPr>
        <p:spPr>
          <a:xfrm>
            <a:off x="947877" y="348564"/>
            <a:ext cx="7582534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项目合作模式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99000"/>
              </a:lnSpc>
              <a:spcBef>
                <a:spcPts val="5"/>
              </a:spcBef>
            </a:pP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合同能源管理服务方案（能源费用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托管型）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textbox 1016"/>
          <p:cNvSpPr/>
          <p:nvPr/>
        </p:nvSpPr>
        <p:spPr>
          <a:xfrm>
            <a:off x="758242" y="1115454"/>
            <a:ext cx="10838180" cy="533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一．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合同能源管理总费用确认方式（城东及东街院区）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b="1" kern="0" spc="-4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1）第一年托管周期基准费用包括电费和水费，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12060" algn="l" rtl="0" eaLnBrk="0">
              <a:lnSpc>
                <a:spcPct val="86000"/>
              </a:lnSpc>
              <a:spcBef>
                <a:spcPts val="107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2656.12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万元(平均电价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0.7038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元/kWh计算，即基准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电量为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3773.99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万kWh)；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69030" algn="l" rtl="0" eaLnBrk="0">
              <a:lnSpc>
                <a:spcPct val="86000"/>
              </a:lnSpc>
              <a:spcBef>
                <a:spcPts val="1250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基准电量以城东院区</a:t>
            </a: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2024年1月-2024年12月实际电量加总得出，平均电价为2024年1月-1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2月平均电价。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77920" indent="-8890" algn="l" rtl="0" eaLnBrk="0">
              <a:lnSpc>
                <a:spcPct val="147000"/>
              </a:lnSpc>
              <a:spcBef>
                <a:spcPts val="235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基准电量以东街院区</a:t>
            </a: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2023年1月-2024年12月实际电量加总平均得出，平均电价为2023年1月-202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4年12月平均</a:t>
            </a: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电价。因2022年电价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异常，暂不纳入基准统计范围。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499995" algn="l" rtl="0" eaLnBrk="0">
              <a:lnSpc>
                <a:spcPct val="86000"/>
              </a:lnSpc>
              <a:spcBef>
                <a:spcPts val="96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水费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268.71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万元（平均水价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3.80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元/吨计算，即基准水量为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70.7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万吨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69030" algn="l" rtl="0" eaLnBrk="0">
              <a:lnSpc>
                <a:spcPct val="86000"/>
              </a:lnSpc>
              <a:spcBef>
                <a:spcPts val="1250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基准水量以城东院区2024年1月-2024年12月实际水量加总得出，平均水价为2024年1月-1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2月平均水价。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69030" algn="l" rtl="0" eaLnBrk="0">
              <a:lnSpc>
                <a:spcPct val="86000"/>
              </a:lnSpc>
              <a:spcBef>
                <a:spcPts val="985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基准水量以东街院区2022年1月-2024年12月实际水量加总得出，平均水价为2022年1月-1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2月平均水价。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40000" algn="l" rtl="0" eaLnBrk="0">
              <a:lnSpc>
                <a:spcPct val="86000"/>
              </a:lnSpc>
              <a:spcBef>
                <a:spcPts val="1040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燃气费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91.55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万元（平均气价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3.74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元/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NM</a:t>
            </a:r>
            <a:r>
              <a:rPr sz="1400" kern="0" spc="-10" baseline="22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计算，即基准燃气量为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24.49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万NM</a:t>
            </a:r>
            <a:r>
              <a:rPr sz="1400" kern="0" spc="-10" baseline="22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69030" algn="l" rtl="0" eaLnBrk="0">
              <a:lnSpc>
                <a:spcPct val="86000"/>
              </a:lnSpc>
              <a:spcBef>
                <a:spcPts val="960"/>
              </a:spcBef>
            </a:pPr>
            <a:r>
              <a:rPr sz="12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基准气量以城东院区2024年1月-2024年12月实际燃气加总得出，平均气价为2024年1月-1</a:t>
            </a:r>
            <a:r>
              <a:rPr sz="12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2月平均气价。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674110" algn="l" rtl="0" eaLnBrk="0">
              <a:lnSpc>
                <a:spcPct val="86000"/>
              </a:lnSpc>
              <a:spcBef>
                <a:spcPts val="915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东街院区已于2023年7月后再无燃气费数据，东街院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区现已全面停用天然气。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430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年基准能耗费</a:t>
            </a:r>
            <a:r>
              <a:rPr sz="1400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kern="0" spc="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3016.3</a:t>
            </a:r>
            <a:r>
              <a:rPr sz="1400" kern="0" spc="-10" dirty="0">
                <a:solidFill>
                  <a:srgbClr val="4874C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万元/年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二．</a:t>
            </a:r>
            <a:r>
              <a:rPr sz="1400" kern="0" spc="-29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合作模式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能源托管缴费模式：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双方签订能源托管合作协议，甲方所有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的能源费用由乙方代缴。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6000"/>
              </a:lnSpc>
              <a:spcBef>
                <a:spcPts val="5"/>
              </a:spcBef>
            </a:pP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费用总包价形式：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</a:t>
            </a:r>
            <a:r>
              <a:rPr sz="1400" b="1" kern="0" spc="0" dirty="0">
                <a:solidFill>
                  <a:srgbClr val="FF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年合同能源管理总费用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每年按月结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算，合作期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限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10年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18" name="textbox 1018"/>
          <p:cNvSpPr/>
          <p:nvPr/>
        </p:nvSpPr>
        <p:spPr>
          <a:xfrm>
            <a:off x="947877" y="348564"/>
            <a:ext cx="7582534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23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项目合作模式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99000"/>
              </a:lnSpc>
              <a:spcBef>
                <a:spcPts val="5"/>
              </a:spcBef>
            </a:pP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合同能源管理服务方案（能源费用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托管型）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table 1026"/>
          <p:cNvGraphicFramePr>
            <a:graphicFrameLocks noGrp="1"/>
          </p:cNvGraphicFramePr>
          <p:nvPr/>
        </p:nvGraphicFramePr>
        <p:xfrm>
          <a:off x="499109" y="1136015"/>
          <a:ext cx="10980420" cy="5076190"/>
        </p:xfrm>
        <a:graphic>
          <a:graphicData uri="http://schemas.openxmlformats.org/drawingml/2006/table">
            <a:tbl>
              <a:tblPr/>
              <a:tblGrid>
                <a:gridCol w="831215"/>
                <a:gridCol w="1520190"/>
                <a:gridCol w="1882775"/>
                <a:gridCol w="6746240"/>
              </a:tblGrid>
              <a:tr h="367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31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对应院区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719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817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改造项目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283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改造内容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89">
                <a:tc rowSpan="11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94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城东院区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23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能源中心空调系统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5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中央空调系统设备汰换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2050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能源中心1台850RT冷水主机、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更换为高效磁悬浮冷水主机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85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436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水泵更换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23670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冷冻水泵、冷却水泵更换为高效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水泵并加装变频器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225" algn="l" rtl="0" eaLnBrk="0">
                        <a:lnSpc>
                          <a:spcPct val="86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冷却塔风机变频控制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1570" algn="l" rtl="0" eaLnBrk="0">
                        <a:lnSpc>
                          <a:spcPct val="86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冷却塔风机加装变频控制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7025" algn="l" rtl="0" eaLnBrk="0">
                        <a:lnSpc>
                          <a:spcPct val="86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冷却塔整备维护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68070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冷却塔进行换新，整体维护、冷却塔集水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盘统一高度的调整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22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23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能源中心热水系统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新增空气源热泵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5135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增加住院楼空气源热泵机组，代替原有蒸汽锅炉换热为住院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楼提供生活热水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同心楼空调系统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86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水泵、风机变频控制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910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各空调系统水泵、冷却塔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风机加装变频装置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85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9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生活用水系统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372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用水计量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773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对一、二级水表改造为远传水表，减少抄表成本，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监控用水情况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85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321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开水器系统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41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开水器汰换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570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现有开式开水器更换为步进式开水器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18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电梯系统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622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加装能量回馈装置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433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对于现有电阻式直梯，在机房内加装电梯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能量回馈装置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85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656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照明系统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汰换节能灯具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545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对于部分老化灯具汰换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高效节能灯具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16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智慧平台建设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52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增设能管平台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6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对于医院重要区域的用水、用电、用气、用汽数据进行自动化采集，增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加两座制冷机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9535" algn="l" rtl="0" eaLnBrk="0">
                        <a:lnSpc>
                          <a:spcPct val="86000"/>
                        </a:lnSpc>
                        <a:spcBef>
                          <a:spcPts val="23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房群控系统，优化系统运行效率。平台带有运维系统，设备报警自动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推送，提高运维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15310" algn="l" rtl="0" eaLnBrk="0">
                        <a:lnSpc>
                          <a:spcPct val="85000"/>
                        </a:lnSpc>
                        <a:spcBef>
                          <a:spcPts val="24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效率。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8" name="textbox 1028"/>
          <p:cNvSpPr/>
          <p:nvPr/>
        </p:nvSpPr>
        <p:spPr>
          <a:xfrm>
            <a:off x="-12700" y="-12700"/>
            <a:ext cx="1170559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089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节能改造方案汇总及节能效益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6" name="table 1036"/>
          <p:cNvGraphicFramePr>
            <a:graphicFrameLocks noGrp="1"/>
          </p:cNvGraphicFramePr>
          <p:nvPr/>
        </p:nvGraphicFramePr>
        <p:xfrm>
          <a:off x="570230" y="1784984"/>
          <a:ext cx="10820400" cy="4058284"/>
        </p:xfrm>
        <a:graphic>
          <a:graphicData uri="http://schemas.openxmlformats.org/drawingml/2006/table">
            <a:tbl>
              <a:tblPr/>
              <a:tblGrid>
                <a:gridCol w="1052830"/>
                <a:gridCol w="1236980"/>
                <a:gridCol w="1537335"/>
                <a:gridCol w="6993255"/>
              </a:tblGrid>
              <a:tr h="522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435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对应院区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55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60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改造项目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5214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改造内容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525"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5420" algn="l" rtl="0" eaLnBrk="0">
                        <a:lnSpc>
                          <a:spcPct val="85000"/>
                        </a:lnSpc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东街院区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2880" indent="-71120" algn="l" rtl="0" eaLnBrk="0">
                        <a:lnSpc>
                          <a:spcPct val="93000"/>
                        </a:lnSpc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门诊医技楼中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央空调系统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7535" indent="-51625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中央空调系统设备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99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将1台550RT冷水主机更换为高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效冷水主机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227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水泵更换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7495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冷冻水泵、冷却水泵更换为高效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水泵并加装变频器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64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将原有两台直流免风冷却塔更换为带风机的横流冷却塔，并加装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风机变频器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59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7505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住院楼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7535" indent="-51625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中央空调系统设备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99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将1台450RT冷水主机更换为高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效冷水主机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227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水泵更换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749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冷冻水泵、冷却水泵更换为高效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水泵并加装变频器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89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74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冷却塔汰换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7620" algn="l" rtl="0" eaLnBrk="0">
                        <a:lnSpc>
                          <a:spcPct val="86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将原有两台冷却塔更换为横流冷却塔，并加装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风机变频器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52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用水系统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1810" indent="-44323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管网探漏补漏、洁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具改造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255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对地下管网进行精准探漏补漏，同时对末端用水器具改造为二级水效及以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上的节水器具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0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885" algn="l" rtl="0" eaLnBrk="0">
                        <a:lnSpc>
                          <a:spcPct val="86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智慧平台建设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3205" algn="l" rtl="0" eaLnBrk="0">
                        <a:lnSpc>
                          <a:spcPct val="86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增设能管平台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2555" indent="-8890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对于医院重要区域的用水、用电、用气、用汽数据进行自动化采集，增加两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座制冷机房群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控系统，优化系统运行效率。平台带有运维系统，设备报警自动推送，提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高运维效率。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8" name="textbox 1038"/>
          <p:cNvSpPr/>
          <p:nvPr/>
        </p:nvSpPr>
        <p:spPr>
          <a:xfrm>
            <a:off x="-12700" y="-12700"/>
            <a:ext cx="1170559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089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节能改造方案汇总及节能效益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textbox 1046"/>
          <p:cNvSpPr/>
          <p:nvPr/>
        </p:nvSpPr>
        <p:spPr>
          <a:xfrm>
            <a:off x="-12700" y="-12700"/>
            <a:ext cx="11705590" cy="3002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0890" algn="l" rtl="0" eaLnBrk="0">
              <a:lnSpc>
                <a:spcPct val="88000"/>
              </a:lnSpc>
            </a:pPr>
            <a:r>
              <a:rPr sz="2300" b="1" kern="0" spc="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节能改造方案汇总及节能效益             </a:t>
            </a:r>
            <a:r>
              <a:rPr sz="2300" b="1" kern="0" spc="3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50645" algn="l" rtl="0" eaLnBrk="0">
              <a:lnSpc>
                <a:spcPct val="98000"/>
              </a:lnSpc>
              <a:spcBef>
                <a:spcPts val="117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7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本项目经过如上改造，可对于两院区4座制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冷机房进行升级，提高系统运行效率，增加系统运行安全性，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628140" algn="l" rtl="0" eaLnBrk="0">
              <a:lnSpc>
                <a:spcPts val="2575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保障医院医疗活动的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稳定运行。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0645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15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同时对于生活用水、生活热水、照明、</a:t>
            </a:r>
            <a:r>
              <a:rPr sz="1500" kern="0" spc="-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电梯等附属系统进行了提质升级，进一步提高各系统运行效率，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643380" algn="l" rtl="0" eaLnBrk="0">
              <a:lnSpc>
                <a:spcPts val="2575"/>
              </a:lnSpc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降低系统运行能耗。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0645" algn="l" rtl="0" eaLnBrk="0">
              <a:lnSpc>
                <a:spcPct val="98000"/>
              </a:lnSpc>
              <a:spcBef>
                <a:spcPts val="455"/>
              </a:spcBef>
            </a:pPr>
            <a:r>
              <a:rPr sz="1500" kern="0" spc="12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n</a:t>
            </a:r>
            <a:r>
              <a:rPr sz="1500" kern="0" spc="-360" dirty="0">
                <a:solidFill>
                  <a:srgbClr val="4FB967">
                    <a:alpha val="100000"/>
                  </a:srgbClr>
                </a:solidFill>
                <a:latin typeface="Wingdings" panose="05000000000000000000"/>
                <a:ea typeface="Wingdings" panose="05000000000000000000"/>
                <a:cs typeface="Wingdings" panose="05000000000000000000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最终，增加同一的智慧能管平台，对于两座院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区内的各用能系统进行自动的能耗采集、数据分析、设备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628140" algn="l" rtl="0" eaLnBrk="0">
              <a:lnSpc>
                <a:spcPts val="2575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监控等工作，保证日常运维中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不断优化各设备运行能效，降低人力成本。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52" name="textbox 1052"/>
          <p:cNvSpPr/>
          <p:nvPr/>
        </p:nvSpPr>
        <p:spPr>
          <a:xfrm>
            <a:off x="1315824" y="3395966"/>
            <a:ext cx="9567544" cy="3119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ct val="89000"/>
              </a:lnSpc>
            </a:pPr>
            <a:r>
              <a:rPr sz="1500" b="1" kern="0" spc="12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1500" kern="0" spc="40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通过上述节能技改措施，本项目可实现节能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效益</a:t>
            </a:r>
            <a:r>
              <a:rPr sz="1500" b="1" kern="0" spc="110" dirty="0">
                <a:solidFill>
                  <a:srgbClr val="4874C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272.6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万元/年，知鱼建设期全额投资1381万元，合同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58775" algn="l" rtl="0" eaLnBrk="0">
              <a:lnSpc>
                <a:spcPts val="2880"/>
              </a:lnSpc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期运维投入40万元/年，十年400万元，业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主0投资。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9000"/>
              </a:lnSpc>
              <a:spcBef>
                <a:spcPts val="460"/>
              </a:spcBef>
            </a:pPr>
            <a:r>
              <a:rPr sz="1500" kern="0" spc="9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1500" kern="0" spc="44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节省运维耗材费用：知鱼投入的节能设备由其进行维护保养，减少医院运维费用支出。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9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sz="1500" kern="0" spc="43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减少更换升级设备的投入：增加固定资产约1381万元！在合约期结束后将投资的所有设备设施所有权无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54965" algn="l" rtl="0" eaLnBrk="0">
              <a:lnSpc>
                <a:spcPts val="2880"/>
              </a:lnSpc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偿转赠，中央空调等核心设备的使用寿命长达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20年。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460"/>
              </a:spcBef>
            </a:pPr>
            <a:r>
              <a:rPr sz="1500" kern="0" spc="10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sz="1500" kern="0" spc="450" dirty="0">
                <a:solidFill>
                  <a:srgbClr val="4FB96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控制逐年上涨的能耗用量：随着设备逐年老化效率降低，按城东院区客户每年最低约5%的能耗增长率，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79095" indent="-21590" algn="l" rtl="0" eaLnBrk="0">
              <a:lnSpc>
                <a:spcPct val="165000"/>
              </a:lnSpc>
              <a:spcBef>
                <a:spcPts val="30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可转移客户每年5%左右能耗增量（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约2204万元/年×5%×10年=1102万元）</a:t>
            </a:r>
            <a:r>
              <a:rPr sz="1500" kern="0" spc="-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：城东院区22年-24年用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电量的平均增长率为6.6%，用水量的平均增长率为16%，用气量的平均增长率为5%，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56" name="picture 10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94334" y="3128009"/>
            <a:ext cx="10518826" cy="4762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8" name="table 1058"/>
          <p:cNvGraphicFramePr>
            <a:graphicFrameLocks noGrp="1"/>
          </p:cNvGraphicFramePr>
          <p:nvPr/>
        </p:nvGraphicFramePr>
        <p:xfrm>
          <a:off x="921385" y="1442720"/>
          <a:ext cx="10599420" cy="3972560"/>
        </p:xfrm>
        <a:graphic>
          <a:graphicData uri="http://schemas.openxmlformats.org/drawingml/2006/table">
            <a:tbl>
              <a:tblPr/>
              <a:tblGrid>
                <a:gridCol w="1047750"/>
                <a:gridCol w="3033395"/>
                <a:gridCol w="3329940"/>
                <a:gridCol w="3188335"/>
              </a:tblGrid>
              <a:tr h="311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49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序号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7130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确认项目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15720" algn="l" rtl="0" eaLnBrk="0">
                        <a:lnSpc>
                          <a:spcPct val="85000"/>
                        </a:lnSpc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确认内容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158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需求原因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79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2285" algn="l" rtl="0" eaLnBrk="0">
                        <a:lnSpc>
                          <a:spcPct val="84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22630" algn="l" rtl="0" eaLnBrk="0">
                        <a:lnSpc>
                          <a:spcPct val="85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城东院区的电费数据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0825" indent="-91440" algn="l" rtl="0" eaLnBrk="0">
                        <a:lnSpc>
                          <a:spcPct val="93000"/>
                        </a:lnSpc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业主方需提供电网开具的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具有电价详细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构成的电费账单，以及用电负荷曲线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4625" algn="l" rtl="0" eaLnBrk="0">
                        <a:lnSpc>
                          <a:spcPct val="85000"/>
                        </a:lnSpc>
                      </a:pP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城东院区具有分时电价，且场地、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77800" algn="l" rtl="0" eaLnBrk="0">
                        <a:lnSpc>
                          <a:spcPct val="86000"/>
                        </a:lnSpc>
                        <a:spcBef>
                          <a:spcPts val="24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力容量条件较好，可以考虑增设储能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1645" algn="l" rtl="0" eaLnBrk="0">
                        <a:lnSpc>
                          <a:spcPct val="86000"/>
                        </a:lnSpc>
                        <a:spcBef>
                          <a:spcPts val="230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以削峰填谷，进行峰谷套利。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85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149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807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各机房能效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954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知鱼方会在后续对于各制冷机房能效进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52195" algn="l" rtl="0" eaLnBrk="0">
                        <a:lnSpc>
                          <a:spcPct val="85000"/>
                        </a:lnSpc>
                        <a:spcBef>
                          <a:spcPts val="245"/>
                        </a:spcBef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行详细测量确认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056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核准节能量计算结果。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276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59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城东院区食堂天面承重能量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8025" indent="-53848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知鱼方会在后续对于城东院区食堂天面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的承重能力进行详细评估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885" algn="l" rtl="0" eaLnBrk="0">
                        <a:lnSpc>
                          <a:spcPct val="86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需确认新增热水热泵安装条件可行性，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531495" algn="l" rtl="0" eaLnBrk="0">
                        <a:lnSpc>
                          <a:spcPct val="86000"/>
                        </a:lnSpc>
                        <a:spcBef>
                          <a:spcPts val="23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若无法承重，则另行选址。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60" name="textbox 1060"/>
          <p:cNvSpPr/>
          <p:nvPr/>
        </p:nvSpPr>
        <p:spPr>
          <a:xfrm>
            <a:off x="-12700" y="-12700"/>
            <a:ext cx="1170559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2795" algn="l" rtl="0" eaLnBrk="0">
              <a:lnSpc>
                <a:spcPct val="88000"/>
              </a:lnSpc>
              <a:spcBef>
                <a:spcPts val="5"/>
              </a:spcBef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下一步需确认的问题                 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textbox 1072"/>
          <p:cNvSpPr/>
          <p:nvPr/>
        </p:nvSpPr>
        <p:spPr>
          <a:xfrm>
            <a:off x="6050089" y="2831776"/>
            <a:ext cx="3482340" cy="680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5845" algn="l" rtl="0" eaLnBrk="0">
              <a:lnSpc>
                <a:spcPct val="87000"/>
              </a:lnSpc>
              <a:spcBef>
                <a:spcPts val="0"/>
              </a:spcBef>
              <a:tabLst>
                <a:tab pos="1368425" algn="l"/>
              </a:tabLst>
            </a:pPr>
            <a:r>
              <a:rPr sz="3900" b="1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3900" b="1" kern="0" spc="2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3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box 22"/>
          <p:cNvSpPr/>
          <p:nvPr/>
        </p:nvSpPr>
        <p:spPr>
          <a:xfrm>
            <a:off x="6356975" y="2815351"/>
            <a:ext cx="3761104" cy="704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en-US" sz="7900" b="1" kern="0" spc="710" baseline="3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5100" b="1" kern="0" spc="710" dirty="0">
                <a:solidFill>
                  <a:srgbClr val="4FB9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4000" baseline="-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textbox 1312"/>
          <p:cNvSpPr/>
          <p:nvPr/>
        </p:nvSpPr>
        <p:spPr>
          <a:xfrm>
            <a:off x="1144905" y="4655185"/>
            <a:ext cx="3957320" cy="179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r>
              <a:rPr lang="zh-CN"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知鱼智联科技（福建）有限公司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1139736" y="2335314"/>
            <a:ext cx="3798570" cy="829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6330"/>
              </a:lnSpc>
            </a:pPr>
            <a:r>
              <a:rPr sz="4400" b="1" kern="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</a:t>
            </a:r>
            <a:r>
              <a:rPr sz="4400" b="1" kern="0" spc="4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400" b="1" kern="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</a:t>
            </a:r>
            <a:r>
              <a:rPr sz="4400" b="1" kern="0" spc="3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400" b="1" kern="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聆</a:t>
            </a:r>
            <a:r>
              <a:rPr sz="4400" b="1" kern="0" spc="5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400" b="1" kern="0" spc="27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</a:t>
            </a:r>
            <a:r>
              <a:rPr sz="4400" b="1" kern="0" spc="35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400" b="1" kern="0" spc="-27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19433</Words>
  <Application>WPS 演示</Application>
  <PresentationFormat/>
  <Paragraphs>3913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Arial</vt:lpstr>
      <vt:lpstr>宋体</vt:lpstr>
      <vt:lpstr>Wingdings</vt:lpstr>
      <vt:lpstr>Arial</vt:lpstr>
      <vt:lpstr>微软雅黑</vt:lpstr>
      <vt:lpstr>Wingdings</vt:lpstr>
      <vt:lpstr>黑体</vt:lpstr>
      <vt:lpstr>Arial Unicode MS</vt:lpstr>
      <vt:lpstr>Calibri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乐爷</cp:lastModifiedBy>
  <cp:revision>11</cp:revision>
  <dcterms:created xsi:type="dcterms:W3CDTF">2026-05-20T08:26:00Z</dcterms:created>
  <dcterms:modified xsi:type="dcterms:W3CDTF">2026-05-21T03:25:07Z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2026-05-20T19:40:21Z</vt:filetime>
  </property>
  <property fmtid="{D5CDD505-2E9C-101B-9397-08002B2CF9AE}" pid="4" name="KSOProductBuildVer">
    <vt:lpwstr>2052-12.1.0.25865</vt:lpwstr>
  </property>
  <property fmtid="{D5CDD505-2E9C-101B-9397-08002B2CF9AE}" pid="5" name="ICV">
    <vt:lpwstr>2BF69FE3FBD24318AFD3A0DA27045967_12</vt:lpwstr>
  </property>
</Properties>
</file>