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notesSlides/notesSlide1.xml" Type="http://schemas.openxmlformats.org/officeDocument/2006/relationships/notesSlide"/><Relationship Id="rId29" Target="notesSlides/notesSlide2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3.xml" Type="http://schemas.openxmlformats.org/officeDocument/2006/relationships/notesSlide"/><Relationship Id="rId31" Target="notesSlides/notesSlide4.xml" Type="http://schemas.openxmlformats.org/officeDocument/2006/relationships/notesSlide"/><Relationship Id="rId32" Target="notesSlides/notesSlide5.xml" Type="http://schemas.openxmlformats.org/officeDocument/2006/relationships/notesSlide"/><Relationship Id="rId33" Target="notesSlides/notesSlide6.xml" Type="http://schemas.openxmlformats.org/officeDocument/2006/relationships/notesSlide"/><Relationship Id="rId34" Target="notesSlides/notesSlide7.xml" Type="http://schemas.openxmlformats.org/officeDocument/2006/relationships/notesSlide"/><Relationship Id="rId35" Target="notesSlides/notesSlide8.xml" Type="http://schemas.openxmlformats.org/officeDocument/2006/relationships/notesSlide"/><Relationship Id="rId36" Target="notesSlides/notesSlide9.xml" Type="http://schemas.openxmlformats.org/officeDocument/2006/relationships/notesSlide"/><Relationship Id="rId37" Target="notesSlides/notesSlide10.xml" Type="http://schemas.openxmlformats.org/officeDocument/2006/relationships/notesSlide"/><Relationship Id="rId38" Target="notesSlides/notesSlide11.xml" Type="http://schemas.openxmlformats.org/officeDocument/2006/relationships/notesSlide"/><Relationship Id="rId39" Target="notesSlides/notesSlide12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3.xml" Type="http://schemas.openxmlformats.org/officeDocument/2006/relationships/notesSlide"/><Relationship Id="rId41" Target="notesSlides/notesSlide14.xml" Type="http://schemas.openxmlformats.org/officeDocument/2006/relationships/notesSlide"/><Relationship Id="rId42" Target="notesSlides/notesSlide15.xml" Type="http://schemas.openxmlformats.org/officeDocument/2006/relationships/notesSlide"/><Relationship Id="rId43" Target="notesSlides/notesSlide16.xml" Type="http://schemas.openxmlformats.org/officeDocument/2006/relationships/notesSlide"/><Relationship Id="rId44" Target="notesSlides/notesSlide17.xml" Type="http://schemas.openxmlformats.org/officeDocument/2006/relationships/notesSlide"/><Relationship Id="rId45" Target="notesSlides/notesSlide18.xml" Type="http://schemas.openxmlformats.org/officeDocument/2006/relationships/notesSlide"/><Relationship Id="rId46" Target="notesSlides/notesSlide19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尊敬的各位领导，大家下午好。今天我代表福建光泽红杉国有投资集团有限公司，就集团战略转型的关键一步——成立全资综合能源公司，向各位做专题汇报。面对新时代的机遇与挑战，我们认为，这是集团实现高质量发展、履行国企社会责任的必然选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汇报将分为四个部分。首先，我们将分析集团当前面临的资产、节能和财政三大挑战。其次，提出组建综合能源公司的解决方案。接着，从政策和市场两个维度阐述成立综能公司的必要性与可行性。最后，给出具体的实施路径和步骤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我们来看集团面临的第一个挑战：资产“多而不精”。集团积累了大量资产，但管理效能低下。许多闲置厂房和老旧设施不仅没有创造价值，反而成为了负担。我们缺乏专业的运营手段和智能化的管理系统，导致资产价值流失和运营成本高企，这是我们必须正视的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个挑战来自外部环境。随着国家“双碳”战略的深入，节能降碳已成为硬性指标。然而，我们集团在这方面缺乏顶层设计、技术手段和专业人才，这不仅可能带来政策合规风险，更会让我们在未来的绿色发展浪潮中掉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个挑战，也是最紧迫的挑战，是集团的营收问题。传统的地产业务已经结束，我们失去了主要的收入来源，面临着严峻的营收断层和盈利压力。如果不能尽快培育出新的优质盈利增长点，集团的生存和发展都将面临巨大挑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面对这三重挑战，我们的解决方案是：组建一家全资的综合能源服务公司。这家公司将成为集团新的增长引擎，它的核心价值在于整合资源、运用技术，实现能源的优化配置和价值创造，从而系统性地解决我们当前面临的痛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综合能源公司的核心业务主要包括三大板块：首先是清洁能源资产的投资与运营，比如在我们的屋顶建光伏；其次是智慧能源系统的建设与运维，用技术手段管好能源；最后是提供多元化的综合能源服务，包括售电、节能改造和虚拟电厂运营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，这家综能公司具体能为集团带来什么呢？首先，它能盘活我们的存量资产，让闲置的屋顶和场地变成赚钱的光伏电站。其次，它能帮助我们落实节能降碳任务，抢占政策先机。最重要的是，它将为集团培育全新的盈利增长点，彻底改变我们对传统地产业务的依赖，实现可持续发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，我们谈谈为什么现在是成立综能公司的最佳时机。从政策层面看，福建省的电力市场化改革已经进入深水区。无论是增量配网的放开，还是售电侧改革的深化，特别是虚拟电厂迎来爆发期，都为我们提供了前所未有的历史机遇。政策的东风已经吹来，我们必须抓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除了政策支持，更重要的是经济效益。综能公司拥有多元化的盈利模式。我们可以通过购售电赚取差价，通过投资光伏和储能获得稳定回报，还可以通过运营虚拟电厂参与电网辅助服务和需求响应，获取高额收益。此外，节能改造和碳资产管理等服务也将成为新的收入来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想特别强调一下虚拟电厂的巨大潜力。简单来说，虚拟电厂就是把分散的光伏、储能、充电桩等资源聚合成一个整体，像一个大型电厂一样参与市场交易。福建省在这方面政策非常领先，已经明确了盈利模式和补偿标准。我们的同行，如福建华电，已经通过虚拟电厂实现了稳定收益，这充分证明了这条路是走得通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另一个重要的增长点是储能。福建省今年2月的新政，允许独立储能电站作为独立主体参与市场，这为储能投资打开了新的大门。核心的盈利模式就是利用峰谷电价差进行套利，简单说就是低电价时充电，高电价时放电，赚取差价。山东的一个项目案例显示，一个10兆瓦的储能电站，一年就能赚超过一千万。这还不算参与电网辅助服务的额外收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，具体该如何实施呢？首先是组织架构。我们建议设立四个核心部门：能源投资部负责找项目、投项目；购售电部是核心业务部门，负责卖电和交易；智慧运维与节能服务部负责技术和服务；综合管理部负责内部运营。这样的架构可以确保各项业务高效协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业务开展上，我们建议分三步走。第一阶段，用半年时间完成公司注册、牌照申请和团队组建，并启动内部业务。第二阶段，用一年左右的时间，构建技术平台，启动光伏项目，并拓展外部售电业务。第三阶段，也就是18个月以后，我们将实现虚拟电厂的规模化运营，投资建设储能电站，并推广更高级的综合能源服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开展购售电业务之前，我们必须先取得售电业务牌照。这一页详细列出了申请牌照的四个核心条件：首先是经营范围的要求，必须明确包含电力销售相关业务；其次是不低于2000万的资产要求，需经过专业审计；第三是至少10人的专业团队配置，包含特定数量的中高级职称人员；最后是技术系统和办公场所的硬性证明。这些都是我们在第一阶段需要重点准备和落实的基础事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这一页汇总了我们报告中引用的核心数据，包括国家和福建省的政策目标、具体的市场补偿标准以及同行的成功案例。这些数据充分证明了我们方案的可行性和巨大的市场潜力。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图来自福建省政府发展研究中心的报告，它直观地展示了全省各地市在新型能源体系发展上的效率变动。可以看到，这是一个全省都在发力的赛道。我们光泽县如果能率先行动，成立综合能源公司，不仅能解决自身发展问题，更能在区域竞争中抢占先机，树立标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进行总结。我们认为，成立综合能源公司是红杉集团破局转型的必然选择，时机成熟，条件具备。我们恳请各位领导能够审议并支持我们的方案，并在后续工作中给予指导和帮助。我们坚信，通过成立综能公司，不仅能盘活资产、培育新增长点，更能为光泽县的绿色发展贡献国企力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我的汇报到此结束，感谢各位领导的聆听。我们热切期待能得到您的支持，共同开启红杉集团和光泽县能源事业发展的新篇章。谢谢大家！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.svg" Type="http://schemas.openxmlformats.org/officeDocument/2006/relationships/image"/><Relationship Id="rId11" Target="../notesSlides/notesSlide2.xml" Type="http://schemas.openxmlformats.org/officeDocument/2006/relationships/notesSlide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3.xml" Type="http://schemas.openxmlformats.org/officeDocument/2006/relationships/notesSlide"/><Relationship Id="rId2" Target="../media/image2.jpeg" Type="http://schemas.openxmlformats.org/officeDocument/2006/relationships/image"/><Relationship Id="rId3" Target="../media/image11.jpe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notesSlides/notesSlide4.xml" Type="http://schemas.openxmlformats.org/officeDocument/2006/relationships/notesSlide"/><Relationship Id="rId2" Target="../media/image2.jpeg" Type="http://schemas.openxmlformats.org/officeDocument/2006/relationships/image"/><Relationship Id="rId3" Target="../media/image18.jpe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5.xml" Type="http://schemas.openxmlformats.org/officeDocument/2006/relationships/notesSlide"/><Relationship Id="rId2" Target="../media/image2.jpeg" Type="http://schemas.openxmlformats.org/officeDocument/2006/relationships/image"/><Relationship Id="rId3" Target="../media/image27.jpe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2.png" Type="http://schemas.openxmlformats.org/officeDocument/2006/relationships/image"/><Relationship Id="rId4" Target="../media/image33.svg" Type="http://schemas.openxmlformats.org/officeDocument/2006/relationships/image"/><Relationship Id="rId5" Target="../media/image34.png" Type="http://schemas.openxmlformats.org/officeDocument/2006/relationships/image"/><Relationship Id="rId6" Target="../media/image35.svg" Type="http://schemas.openxmlformats.org/officeDocument/2006/relationships/image"/><Relationship Id="rId7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6.jpeg" Type="http://schemas.openxmlformats.org/officeDocument/2006/relationships/image"/><Relationship Id="rId4" Target="../media/image37.jpeg" Type="http://schemas.openxmlformats.org/officeDocument/2006/relationships/image"/><Relationship Id="rId5" Target="../media/image38.jpeg" Type="http://schemas.openxmlformats.org/officeDocument/2006/relationships/image"/><Relationship Id="rId6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9.png" Type="http://schemas.openxmlformats.org/officeDocument/2006/relationships/image"/><Relationship Id="rId4" Target="../media/image40.svg" Type="http://schemas.openxmlformats.org/officeDocument/2006/relationships/imag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Relationship Id="rId9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svg" Type="http://schemas.openxmlformats.org/officeDocument/2006/relationships/image"/><Relationship Id="rId12" Target="../notesSlides/notesSlide9.xml" Type="http://schemas.openxmlformats.org/officeDocument/2006/relationships/notesSlide"/><Relationship Id="rId2" Target="../media/image2.jpeg" Type="http://schemas.openxmlformats.org/officeDocument/2006/relationships/image"/><Relationship Id="rId3" Target="../media/image43.jpeg" Type="http://schemas.openxmlformats.org/officeDocument/2006/relationships/image"/><Relationship Id="rId4" Target="../media/image44.png" Type="http://schemas.openxmlformats.org/officeDocument/2006/relationships/image"/><Relationship Id="rId5" Target="../media/image45.svg" Type="http://schemas.openxmlformats.org/officeDocument/2006/relationships/image"/><Relationship Id="rId6" Target="../media/image46.png" Type="http://schemas.openxmlformats.org/officeDocument/2006/relationships/image"/><Relationship Id="rId7" Target="../media/image47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3.svg" Type="http://schemas.openxmlformats.org/officeDocument/2006/relationships/image"/><Relationship Id="rId11" Target="../media/image54.jpeg" Type="http://schemas.openxmlformats.org/officeDocument/2006/relationships/image"/><Relationship Id="rId12" Target="../notesSlides/notesSlide10.xml" Type="http://schemas.openxmlformats.org/officeDocument/2006/relationships/notesSlide"/><Relationship Id="rId2" Target="../media/image2.jpeg" Type="http://schemas.openxmlformats.org/officeDocument/2006/relationships/image"/><Relationship Id="rId3" Target="../media/image48.png" Type="http://schemas.openxmlformats.org/officeDocument/2006/relationships/image"/><Relationship Id="rId4" Target="../media/image49.svg" Type="http://schemas.openxmlformats.org/officeDocument/2006/relationships/image"/><Relationship Id="rId5" Target="../media/image39.png" Type="http://schemas.openxmlformats.org/officeDocument/2006/relationships/image"/><Relationship Id="rId6" Target="../media/image40.svg" Type="http://schemas.openxmlformats.org/officeDocument/2006/relationships/image"/><Relationship Id="rId7" Target="../media/image50.png" Type="http://schemas.openxmlformats.org/officeDocument/2006/relationships/image"/><Relationship Id="rId8" Target="../media/image51.sv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1.xml" Type="http://schemas.openxmlformats.org/officeDocument/2006/relationships/notesSlide"/><Relationship Id="rId2" Target="../media/image2.jpeg" Type="http://schemas.openxmlformats.org/officeDocument/2006/relationships/image"/><Relationship Id="rId3" Target="../media/image55.png" Type="http://schemas.openxmlformats.org/officeDocument/2006/relationships/image"/><Relationship Id="rId4" Target="../media/image56.svg" Type="http://schemas.openxmlformats.org/officeDocument/2006/relationships/image"/><Relationship Id="rId5" Target="../media/image46.png" Type="http://schemas.openxmlformats.org/officeDocument/2006/relationships/image"/><Relationship Id="rId6" Target="../media/image47.sv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Relationship Id="rId9" Target="../media/image57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1.png" Type="http://schemas.openxmlformats.org/officeDocument/2006/relationships/image"/><Relationship Id="rId11" Target="../media/image62.svg" Type="http://schemas.openxmlformats.org/officeDocument/2006/relationships/image"/><Relationship Id="rId12" Target="../notesSlides/notesSlide12.xml" Type="http://schemas.openxmlformats.org/officeDocument/2006/relationships/notesSlide"/><Relationship Id="rId2" Target="../media/image2.jpeg" Type="http://schemas.openxmlformats.org/officeDocument/2006/relationships/image"/><Relationship Id="rId3" Target="../media/image58.jpeg" Type="http://schemas.openxmlformats.org/officeDocument/2006/relationships/image"/><Relationship Id="rId4" Target="../media/image46.png" Type="http://schemas.openxmlformats.org/officeDocument/2006/relationships/image"/><Relationship Id="rId5" Target="../media/image47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9.png" Type="http://schemas.openxmlformats.org/officeDocument/2006/relationships/image"/><Relationship Id="rId9" Target="../media/image6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63.jpeg" Type="http://schemas.openxmlformats.org/officeDocument/2006/relationships/image"/><Relationship Id="rId4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71.svg" Type="http://schemas.openxmlformats.org/officeDocument/2006/relationships/image"/><Relationship Id="rId11" Target="../notesSlides/notesSlide15.xml" Type="http://schemas.openxmlformats.org/officeDocument/2006/relationships/notesSlide"/><Relationship Id="rId2" Target="../media/image2.jpeg" Type="http://schemas.openxmlformats.org/officeDocument/2006/relationships/image"/><Relationship Id="rId3" Target="../media/image64.png" Type="http://schemas.openxmlformats.org/officeDocument/2006/relationships/image"/><Relationship Id="rId4" Target="../media/image65.svg" Type="http://schemas.openxmlformats.org/officeDocument/2006/relationships/image"/><Relationship Id="rId5" Target="../media/image66.png" Type="http://schemas.openxmlformats.org/officeDocument/2006/relationships/image"/><Relationship Id="rId6" Target="../media/image67.svg" Type="http://schemas.openxmlformats.org/officeDocument/2006/relationships/image"/><Relationship Id="rId7" Target="../media/image68.png" Type="http://schemas.openxmlformats.org/officeDocument/2006/relationships/image"/><Relationship Id="rId8" Target="../media/image69.svg" Type="http://schemas.openxmlformats.org/officeDocument/2006/relationships/image"/><Relationship Id="rId9" Target="../media/image7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.svg" Type="http://schemas.openxmlformats.org/officeDocument/2006/relationships/image"/><Relationship Id="rId11" Target="../notesSlides/notesSlide16.xml" Type="http://schemas.openxmlformats.org/officeDocument/2006/relationships/notesSlide"/><Relationship Id="rId2" Target="../media/image2.jpeg" Type="http://schemas.openxmlformats.org/officeDocument/2006/relationships/image"/><Relationship Id="rId3" Target="../media/image72.png" Type="http://schemas.openxmlformats.org/officeDocument/2006/relationships/image"/><Relationship Id="rId4" Target="../media/image73.svg" Type="http://schemas.openxmlformats.org/officeDocument/2006/relationships/image"/><Relationship Id="rId5" Target="../media/image46.png" Type="http://schemas.openxmlformats.org/officeDocument/2006/relationships/image"/><Relationship Id="rId6" Target="../media/image47.svg" Type="http://schemas.openxmlformats.org/officeDocument/2006/relationships/image"/><Relationship Id="rId7" Target="../media/image74.png" Type="http://schemas.openxmlformats.org/officeDocument/2006/relationships/image"/><Relationship Id="rId8" Target="../media/image75.svg" Type="http://schemas.openxmlformats.org/officeDocument/2006/relationships/image"/><Relationship Id="rId9" Target="../media/image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76.jpeg" Type="http://schemas.openxmlformats.org/officeDocument/2006/relationships/image"/><Relationship Id="rId4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12" Target="../notesSlides/notesSlide18.xml" Type="http://schemas.openxmlformats.org/officeDocument/2006/relationships/notesSlide"/><Relationship Id="rId2" Target="../media/image2.jpeg" Type="http://schemas.openxmlformats.org/officeDocument/2006/relationships/image"/><Relationship Id="rId3" Target="../media/image46.png" Type="http://schemas.openxmlformats.org/officeDocument/2006/relationships/image"/><Relationship Id="rId4" Target="../media/image47.svg" Type="http://schemas.openxmlformats.org/officeDocument/2006/relationships/image"/><Relationship Id="rId5" Target="../media/image77.png" Type="http://schemas.openxmlformats.org/officeDocument/2006/relationships/image"/><Relationship Id="rId6" Target="../media/image78.svg" Type="http://schemas.openxmlformats.org/officeDocument/2006/relationships/image"/><Relationship Id="rId7" Target="../media/image79.jpeg" Type="http://schemas.openxmlformats.org/officeDocument/2006/relationships/image"/><Relationship Id="rId8" Target="../media/image66.png" Type="http://schemas.openxmlformats.org/officeDocument/2006/relationships/image"/><Relationship Id="rId9" Target="../media/image67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0.jpeg" Type="http://schemas.openxmlformats.org/officeDocument/2006/relationships/image"/><Relationship Id="rId3" Target="../notesSlides/notesSlide19.xml" Type="http://schemas.openxmlformats.org/officeDocument/2006/relationships/notesSlide"/><Relationship Id="rId4" Target="../media/image8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2286000"/>
            <a:ext cx="10160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关于建立福建光泽红杉</a:t>
            </a: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综合能源业务的汇报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44450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320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福建光泽红杉国有投资集团有限公司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5588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2026年5月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汇报目录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270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400" spc="4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413000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857500"/>
            <a:ext cx="889000" cy="889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2159000" y="2667000"/>
            <a:ext cx="3556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01. 现状与问题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800"/>
              </a:spcBef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集团发展面临的资产、节能、财政三重挑战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2413000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2857500"/>
            <a:ext cx="889000" cy="889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7620000" y="2667000"/>
            <a:ext cx="3556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02. 解决方案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800"/>
              </a:spcBef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组建综合能源公司，整合资源打造集团新增长极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572000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5016500"/>
            <a:ext cx="889000" cy="889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2159000" y="4826000"/>
            <a:ext cx="3556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03. 必要性与可行性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800"/>
              </a:spcBef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顺应国家“双碳”政策东风，把握万亿级市场机遇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223000" y="4572000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77000" y="5016500"/>
            <a:ext cx="889000" cy="8890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7620000" y="4826000"/>
            <a:ext cx="3556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04. 实施路径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800"/>
              </a:spcBef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明确战略定位，分阶段分步推进，确保稳健发展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 现状与问题：</a:t>
            </a: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资产“多而不精”，营收来源单一，潜在风险积聚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19153" r="19153" t="0" b="0"/>
          <a:stretch>
            <a:fillRect/>
          </a:stretch>
        </p:blipFill>
        <p:spPr>
          <a:xfrm rot="0" flipH="false" flipV="false">
            <a:off x="762000" y="1968500"/>
            <a:ext cx="4318000" cy="3937000"/>
          </a:xfrm>
          <a:prstGeom prst="roundRect">
            <a:avLst>
              <a:gd name="adj" fmla="val 3870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</p:pic>
      <p:sp>
        <p:nvSpPr>
          <p:cNvPr name="AutoShape 4" id="4"/>
          <p:cNvSpPr/>
          <p:nvPr/>
        </p:nvSpPr>
        <p:spPr>
          <a:xfrm rot="0" flipH="false" flipV="false">
            <a:off x="5461000" y="1968500"/>
            <a:ext cx="5969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715000" y="2286000"/>
            <a:ext cx="508000" cy="5080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6477000" y="2095500"/>
            <a:ext cx="469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资产底数不清，运营效益不佳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600"/>
              </a:spcBef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部分存量资产（如闲置厂房、老旧商业设施）长期处于低效运营甚至闲置状态，未能产生预期的现金流。资产台账更新不及时，缺乏动态监控和效益评估机制。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461000" y="3429000"/>
            <a:ext cx="5969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5715000" y="3810000"/>
            <a:ext cx="508000" cy="508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6477000" y="3619500"/>
            <a:ext cx="469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管理模式单一，缺乏专业化运营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600"/>
              </a:spcBef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对不同类型资产的管理仍停留在传统的租赁、维护模式，缺乏基于市场需求的专业化、精细化运营能力。特别是对于具有能源属性的资产，未能有效挖掘其潜在价值。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461000" y="4889500"/>
            <a:ext cx="5969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5715000" y="5207000"/>
            <a:ext cx="508000" cy="508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6477000" y="5016500"/>
            <a:ext cx="469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技术手段落后，运营成本高企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600"/>
              </a:spcBef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缺乏智能化的能源管理系统，对下属企业和资产的用能情况无法进行有效监测和优化，导致能源浪费现象普遍，且运营维护成本居高不下。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 现状与问题：</a:t>
            </a:r>
            <a:r>
              <a:rPr lang="en-US" b="true" i="false" strike="noStrike" u="none" sz="2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2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节能降碳任务艰巨，内部能力亟待提升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5533" r="5533" t="0" b="0"/>
          <a:stretch>
            <a:fillRect/>
          </a:stretch>
        </p:blipFill>
        <p:spPr>
          <a:xfrm rot="0" flipH="false" flipV="false">
            <a:off x="762000" y="1651000"/>
            <a:ext cx="4064000" cy="2413000"/>
          </a:xfrm>
          <a:prstGeom prst="roundRect">
            <a:avLst>
              <a:gd name="adj" fmla="val 6315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</p:pic>
      <p:sp>
        <p:nvSpPr>
          <p:cNvPr name="AutoShape 4" id="4"/>
          <p:cNvSpPr/>
          <p:nvPr/>
        </p:nvSpPr>
        <p:spPr>
          <a:xfrm rot="0" flipH="false" flipV="false">
            <a:off x="762000" y="4261017"/>
            <a:ext cx="4064000" cy="2254083"/>
          </a:xfrm>
          <a:prstGeom prst="roundRect">
            <a:avLst>
              <a:gd name="adj" fmla="val 4507"/>
            </a:avLst>
          </a:prstGeom>
          <a:solidFill>
            <a:srgbClr val="FEF2F2">
              <a:alpha val="100000"/>
            </a:srgbClr>
          </a:solidFill>
          <a:ln w="12700" cmpd="sng" cap="flat">
            <a:solidFill>
              <a:srgbClr val="FCA5A5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952500" y="43815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638300" y="4064000"/>
            <a:ext cx="3429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B91C1C"/>
                </a:solidFill>
                <a:latin typeface="Noto Sans SC"/>
                <a:ea typeface="Noto Sans SC"/>
                <a:cs typeface="Noto Sans SC"/>
                <a:sym typeface="Noto Sans SC"/>
              </a:rPr>
              <a:t>潜在风险提示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true" i="false" strike="noStrike" u="none" sz="1200">
                <a:solidFill>
                  <a:srgbClr val="450A0A"/>
                </a:solidFill>
                <a:latin typeface="Noto Sans SC"/>
                <a:ea typeface="Noto Sans SC"/>
                <a:cs typeface="Noto Sans SC"/>
                <a:sym typeface="Noto Sans SC"/>
              </a:rPr>
              <a:t>• 政策合规风险：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000">
                <a:solidFill>
                  <a:srgbClr val="450A0A"/>
                </a:solidFill>
                <a:latin typeface="Noto Sans SC"/>
                <a:ea typeface="Noto Sans SC"/>
                <a:cs typeface="Noto Sans SC"/>
                <a:sym typeface="Noto Sans SC"/>
              </a:rPr>
              <a:t>国家：26年新规将央企降碳纳入考核；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000">
                <a:solidFill>
                  <a:srgbClr val="450A0A"/>
                </a:solidFill>
                <a:latin typeface="Noto Sans SC"/>
                <a:ea typeface="Noto Sans SC"/>
                <a:cs typeface="Noto Sans SC"/>
                <a:sym typeface="Noto Sans SC"/>
              </a:rPr>
              <a:t>福建：能耗需降14%，未达标面临限批。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450A0A"/>
                </a:solidFill>
                <a:latin typeface="Noto Sans SC"/>
                <a:ea typeface="Noto Sans SC"/>
                <a:cs typeface="Noto Sans SC"/>
                <a:sym typeface="Noto Sans SC"/>
              </a:rPr>
              <a:t>• 发展滞后：错失绿色转型窗口期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450A0A"/>
                </a:solidFill>
                <a:latin typeface="Noto Sans SC"/>
                <a:ea typeface="Noto Sans SC"/>
                <a:cs typeface="Noto Sans SC"/>
                <a:sym typeface="Noto Sans SC"/>
              </a:rPr>
              <a:t>• 社会责任：品牌声誉与ESG评级受损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207000" y="1651000"/>
            <a:ext cx="6223000" cy="1587500"/>
          </a:xfrm>
          <a:prstGeom prst="roundRect">
            <a:avLst>
              <a:gd name="adj" fmla="val 640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5461000" y="1905000"/>
            <a:ext cx="457200" cy="4572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6223000" y="1841500"/>
            <a:ext cx="4953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缺乏顶层设计与全局规划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600"/>
              </a:spcBef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集团尚未制定明确的“双碳”行动路线图，对下属各企业的能耗基准、碳排放底数缺乏系统摸底与统一统计，导致管理无据可依，难以统筹推进降碳工作。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207000" y="3359150"/>
            <a:ext cx="6223000" cy="1587500"/>
          </a:xfrm>
          <a:prstGeom prst="roundRect">
            <a:avLst>
              <a:gd name="adj" fmla="val 640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5461000" y="3746500"/>
            <a:ext cx="457200" cy="4572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6223000" y="3511550"/>
            <a:ext cx="4953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技术手段缺失，难以精准施策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600"/>
              </a:spcBef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未引入智慧能源管理系统(EMS)及专业诊断工具，无法对生产中的高耗能、高排放环节进行实时监测与识别，导致节能技改无法精准落地，降碳效果大打折扣。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207000" y="5080000"/>
            <a:ext cx="62230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5461000" y="5334000"/>
            <a:ext cx="457200" cy="4572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6223000" y="5270500"/>
            <a:ext cx="4953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专业人才队伍严重匮乏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600"/>
              </a:spcBef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内部缺乏掌握碳核算、能效管理、新能源技术的复合型人才，现有的管理团队缺乏相关专业知识储备，难以有效承接和推动集团级的节能降碳战略落地。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-1270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 现状与问题：</a:t>
            </a: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财政依赖严重，传统地产业务终结亟需培育新盈利增长点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10823" r="10823" t="0" b="0"/>
          <a:stretch>
            <a:fillRect/>
          </a:stretch>
        </p:blipFill>
        <p:spPr>
          <a:xfrm rot="0" flipH="false" flipV="false">
            <a:off x="762000" y="1778000"/>
            <a:ext cx="4572000" cy="4318000"/>
          </a:xfrm>
          <a:prstGeom prst="roundRect">
            <a:avLst>
              <a:gd name="adj" fmla="val 3529"/>
            </a:avLst>
          </a:prstGeom>
          <a:noFill/>
          <a:ln w="25400" cmpd="sng" cap="flat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5647157" y="2063750"/>
            <a:ext cx="5715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837657" y="2254250"/>
            <a:ext cx="355600" cy="355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6409157" y="2190750"/>
            <a:ext cx="482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主营业务萎缩：现金流断裂风险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地产业务终结导致核心现金流来源消失，现有业务造血能力薄弱，难以支撑集团运营成本与长期发展需求。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647157" y="3333750"/>
            <a:ext cx="5715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5837657" y="3524250"/>
            <a:ext cx="355600" cy="355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6409157" y="3460750"/>
            <a:ext cx="482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新业务探索不足：增长路径模糊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转型步伐滞后，尚未在新赛道形成具有市场竞争力、高壁垒的业务板块，缺乏可持续的第二增长曲线。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647157" y="4603750"/>
            <a:ext cx="5715000" cy="1206500"/>
          </a:xfrm>
          <a:prstGeom prst="roundRect">
            <a:avLst>
              <a:gd name="adj" fmla="val 8421"/>
            </a:avLst>
          </a:prstGeom>
          <a:solidFill>
            <a:srgbClr val="FEF2F2">
              <a:alpha val="100000"/>
            </a:srgbClr>
          </a:solidFill>
          <a:ln w="12700" cmpd="sng" cap="flat">
            <a:solidFill>
              <a:srgbClr val="FECAC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5837657" y="4857750"/>
            <a:ext cx="355600" cy="355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6409157" y="4756150"/>
            <a:ext cx="482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B91C1C"/>
                </a:solidFill>
                <a:latin typeface="Noto Sans SC"/>
                <a:ea typeface="Noto Sans SC"/>
                <a:cs typeface="Noto Sans SC"/>
                <a:sym typeface="Noto Sans SC"/>
              </a:rPr>
              <a:t>过度依赖输血，多重风险积聚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7F1D1D"/>
                </a:solidFill>
                <a:latin typeface="Noto Sans SC"/>
                <a:ea typeface="Noto Sans SC"/>
                <a:cs typeface="Noto Sans SC"/>
                <a:sym typeface="Noto Sans SC"/>
              </a:rPr>
              <a:t>长期依靠财政补贴不仅加重地方财政负担，更将导致：生存与发展风险、国有资产保值增值风险及企业职能弱化风险。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解决方案：组建综合能源公司，打造集团新业务增长点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10668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2159000"/>
            <a:ext cx="609600" cy="609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2032000" y="2032000"/>
            <a:ext cx="9017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设立全资综合能源公司/业务部，是战略所需，更是发展必由之路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33333"/>
              </a:lnSpc>
              <a:spcBef>
                <a:spcPts val="1200"/>
              </a:spcBef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面对当前挑战，建议由红杉集团</a:t>
            </a:r>
            <a:r>
              <a:rPr lang="en-US" b="tru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全资发起设立综能公司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。这不仅是响应国家“双碳”能源战略、主动履行国企社会责任的必然选择，更是盘活集团存量资产、培育第二增长曲线、构建多元化盈利模型，最终实现可持续发展的关键破局之举。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4191000"/>
            <a:ext cx="10668000" cy="2032000"/>
          </a:xfrm>
          <a:prstGeom prst="roundRect">
            <a:avLst>
              <a:gd name="adj" fmla="val 750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66800" y="4775200"/>
            <a:ext cx="609600" cy="6096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2032000" y="4445000"/>
            <a:ext cx="9017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核心价值：资源整合 + 数智赋能 = 价值创造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33333"/>
              </a:lnSpc>
              <a:spcBef>
                <a:spcPts val="1200"/>
              </a:spcBef>
            </a:pPr>
            <a:r>
              <a:rPr lang="en-US" b="false" i="false" strike="noStrike" u="none" sz="1400">
                <a:solidFill>
                  <a:srgbClr val="F0FDF4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通过整合电、热、冷、气、水等多种能源品类与设施资源，打破传统能源供给与管理壁垒。引入先进的数字孪生、AI调度等技术手段，实施精细化运营管理，最终实现能源流、数据流与价值流的协同，达成</a:t>
            </a:r>
            <a:r>
              <a:rPr lang="en-US" b="true" i="false" strike="noStrike" u="none" sz="1400">
                <a:solidFill>
                  <a:srgbClr val="F0FDF4"/>
                </a:solidFill>
                <a:latin typeface="Noto Sans SC"/>
                <a:ea typeface="Noto Sans SC"/>
                <a:cs typeface="Noto Sans SC"/>
                <a:sym typeface="Noto Sans SC"/>
              </a:rPr>
              <a:t>能源优化配置、全链路高效利用及商业价值最大化</a:t>
            </a:r>
            <a:r>
              <a:rPr lang="en-US" b="false" i="false" strike="noStrike" u="none" sz="1400">
                <a:solidFill>
                  <a:srgbClr val="F0FDF4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解决方案：综合能源公司核心业务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20833" b="20833"/>
          <a:stretch>
            <a:fillRect/>
          </a:stretch>
        </p:blipFill>
        <p:spPr>
          <a:xfrm rot="0" flipH="false" flipV="false">
            <a:off x="889000" y="1841500"/>
            <a:ext cx="3048000" cy="1778000"/>
          </a:xfrm>
          <a:prstGeom prst="roundRect">
            <a:avLst>
              <a:gd name="adj" fmla="val 5714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889000" y="38100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清洁能源资产投资与运营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4572000"/>
            <a:ext cx="3048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在集团自有及合作方的屋顶、场地投资建设分布式光伏、分散式风电、储能电站、充电站等项目，实现绿电的自发自用和余电上网，并参与电网辅助服务。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445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rcRect l="1693" r="1693" t="0" b="0"/>
          <a:stretch>
            <a:fillRect/>
          </a:stretch>
        </p:blipFill>
        <p:spPr>
          <a:xfrm rot="0" flipH="false" flipV="false">
            <a:off x="4572000" y="1841500"/>
            <a:ext cx="3048000" cy="1778000"/>
          </a:xfrm>
          <a:prstGeom prst="roundRect">
            <a:avLst>
              <a:gd name="adj" fmla="val 5714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9" id="9"/>
          <p:cNvSpPr/>
          <p:nvPr/>
        </p:nvSpPr>
        <p:spPr>
          <a:xfrm rot="0" flipH="false" flipV="false">
            <a:off x="4572000" y="38100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智慧能源系统建设与运维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572000" y="4572000"/>
            <a:ext cx="3048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为工业园区、大型公共建筑部署智慧能源管理平台（EMS），构建负荷与电价预测模型，实现对用能设备的实时监测、智能控制和优化调度。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128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rcRect l="0" r="0" t="30555" b="30555"/>
          <a:stretch>
            <a:fillRect/>
          </a:stretch>
        </p:blipFill>
        <p:spPr>
          <a:xfrm rot="0" flipH="false" flipV="false">
            <a:off x="8255000" y="1841500"/>
            <a:ext cx="3048000" cy="1778000"/>
          </a:xfrm>
          <a:prstGeom prst="roundRect">
            <a:avLst>
              <a:gd name="adj" fmla="val 5714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3" id="13"/>
          <p:cNvSpPr/>
          <p:nvPr/>
        </p:nvSpPr>
        <p:spPr>
          <a:xfrm rot="0" flipH="false" flipV="false">
            <a:off x="8255000" y="38100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综合能源服务提供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255000" y="4572000"/>
            <a:ext cx="3048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申请售电牌照，代理工商业用户参与电力市场交易；采用合同能源管理（EMC）模式提供节能改造服务；聚合资源运营虚拟电厂；提供绿证与碳交易服务。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解决方案：综能公司如何解决集团痛点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2159000"/>
            <a:ext cx="609600" cy="609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066800" y="3048000"/>
            <a:ext cx="2692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盘活存量资产，提升管理效能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66800" y="3937000"/>
            <a:ext cx="26924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将集团闲置的屋顶、场地转化为分布式光伏电站，将老旧配电设施升级为智能配网，让“沉睡”的资产产生稳定的现金流。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1200"/>
              </a:spcBef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利用智慧能源管理平台，对集团全资产的用能情况进行统一监控和优化，显著降低整体运营成本。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749800" y="2159000"/>
            <a:ext cx="609600" cy="609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4749800" y="3048000"/>
            <a:ext cx="2692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落实节能降碳，抢占政策先机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749800" y="3937000"/>
            <a:ext cx="26924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作为集团内部节能降碳的实施主体，系统性降低下属企业的能耗水平和碳排放总量，履行企业社会责任。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1200"/>
              </a:spcBef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积极主导并参与“零碳园区”与“绿色工厂”的申报与创建，助力集团及光泽县争取更多的绿色发展政策红利。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28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432800" y="2159000"/>
            <a:ext cx="609600" cy="6096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8432800" y="3048000"/>
            <a:ext cx="2692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培育新盈利点，实现可持续发展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432800" y="3937000"/>
            <a:ext cx="26924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拓展购售电、虚拟电厂聚合响应及综合节能服务等业务，为集团打造全新的、可持续的收入来源，降低对传统业务的依赖。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1200"/>
              </a:spcBef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把握能源市场化改革机遇，利用巨大的能源服务市场潜力，为综能公司及集团开辟广阔的成长空间。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必要性与可行性：顺应政策东风，把握市场机遇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14688" r="14688" t="0" b="0"/>
          <a:stretch>
            <a:fillRect/>
          </a:stretch>
        </p:blipFill>
        <p:spPr>
          <a:xfrm rot="0" flipH="false" flipV="false">
            <a:off x="762000" y="1778000"/>
            <a:ext cx="4572000" cy="4318000"/>
          </a:xfrm>
          <a:prstGeom prst="roundRect">
            <a:avLst>
              <a:gd name="adj" fmla="val 3529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5842000" y="1778000"/>
            <a:ext cx="2667000" cy="2095500"/>
          </a:xfrm>
          <a:prstGeom prst="roundRect">
            <a:avLst>
              <a:gd name="adj" fmla="val 4848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045200" y="1981200"/>
            <a:ext cx="355600" cy="355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6527800" y="19812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增量配网放开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045200" y="2540000"/>
            <a:ext cx="22606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鼓励社会资本投资运营增量配网，集团可凭借本地资源优势，参与工业园区项目，构筑核心竞争壁垒。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763000" y="1778000"/>
            <a:ext cx="2667000" cy="2095500"/>
          </a:xfrm>
          <a:prstGeom prst="roundRect">
            <a:avLst>
              <a:gd name="adj" fmla="val 4848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966200" y="1981200"/>
            <a:ext cx="355600" cy="355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9448800" y="19812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售电侧改革深化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966200" y="2540000"/>
            <a:ext cx="22606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《福建电力市场运行基本规则（2025年修订版）》明确将“新型经营主体”纳入市场成员，为综能公司申请售电牌照提供了法律依据。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842000" y="4127500"/>
            <a:ext cx="2667000" cy="2095500"/>
          </a:xfrm>
          <a:prstGeom prst="roundRect">
            <a:avLst>
              <a:gd name="adj" fmla="val 4848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045200" y="4330700"/>
            <a:ext cx="355600" cy="355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6527800" y="43307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虚拟电厂迎来爆发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045200" y="4889500"/>
            <a:ext cx="22606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福建省率先出台虚拟电厂交易规则，明确了运营商的入市条件和盈利模式，为我们聚合资源参与市场交易打开了通道。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763000" y="4127500"/>
            <a:ext cx="2667000" cy="2095500"/>
          </a:xfrm>
          <a:prstGeom prst="roundRect">
            <a:avLst>
              <a:gd name="adj" fmla="val 4848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8966200" y="4330700"/>
            <a:ext cx="355600" cy="3556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9448800" y="43307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源网荷储与零碳园区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966200" y="4889500"/>
            <a:ext cx="22606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福建省正积极推进相关试点，综能公司可作为实施主体，打造零碳园区示范工程，抢占行业发展的制高点。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必要性与可行性：经济效益显著，打造稳定现金流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584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多元化盈利模式，构建多维收入结构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159000"/>
            <a:ext cx="2857500" cy="20955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2349500"/>
            <a:ext cx="355600" cy="355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397000" y="2311400"/>
            <a:ext cx="2032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购售电收益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2921000"/>
            <a:ext cx="2476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作为电力交易代理，聚合集团内外部用户参与电力中长期及现货市场交易，利用信息差和规模效应赚取购销差价。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810000" y="2159000"/>
            <a:ext cx="2857500" cy="20955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000500" y="2349500"/>
            <a:ext cx="355600" cy="355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445000" y="2311400"/>
            <a:ext cx="2032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能源投资收益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000500" y="2921000"/>
            <a:ext cx="2476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光伏：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利用闲置屋顶建设光伏电站，享受“自发自用、余电上网”的双重收益。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储能：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利用峰谷电价差进行充放电套利，收益稳定且可观。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445000"/>
            <a:ext cx="2857500" cy="20955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52500" y="4635500"/>
            <a:ext cx="355600" cy="355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397000" y="4597400"/>
            <a:ext cx="2032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虚拟电厂运营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52500" y="5207000"/>
            <a:ext cx="2476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聚合资源参与辅助服务市场获取调频调峰补偿；组织用户参与需求响应获得补贴；并开展绿电交易获取绿色溢价。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3810000" y="4445000"/>
            <a:ext cx="2857500" cy="20955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4000500" y="4635500"/>
            <a:ext cx="355600" cy="3556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4445000" y="4597400"/>
            <a:ext cx="2032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综合增值服务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000500" y="5207000"/>
            <a:ext cx="2476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为企业提供合同能源管理(EMC)服务分享节能效益；并拓展碳资产开发与管理、能效诊断等增值服务，增加盈利点。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1"/>
          <a:srcRect l="0" r="0" t="3125" b="3125"/>
          <a:stretch>
            <a:fillRect/>
          </a:stretch>
        </p:blipFill>
        <p:spPr>
          <a:xfrm rot="0" flipH="false" flipV="false">
            <a:off x="6985000" y="2159000"/>
            <a:ext cx="4445000" cy="2667000"/>
          </a:xfrm>
          <a:prstGeom prst="roundRect">
            <a:avLst>
              <a:gd name="adj" fmla="val 5714"/>
            </a:avLst>
          </a:prstGeom>
          <a:noFill/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</p:pic>
      <p:sp>
        <p:nvSpPr>
          <p:cNvPr name="AutoShape 22" id="22"/>
          <p:cNvSpPr/>
          <p:nvPr/>
        </p:nvSpPr>
        <p:spPr>
          <a:xfrm rot="0" flipH="false" flipV="false">
            <a:off x="6985000" y="5080000"/>
            <a:ext cx="4445000" cy="1460500"/>
          </a:xfrm>
          <a:prstGeom prst="roundRect">
            <a:avLst>
              <a:gd name="adj" fmla="val 10434"/>
            </a:avLst>
          </a:prstGeom>
          <a:solidFill>
            <a:srgbClr val="22C55E">
              <a:alpha val="8000"/>
            </a:srgbClr>
          </a:solidFill>
          <a:ln w="12700" cmpd="sng" cap="flat">
            <a:solidFill>
              <a:srgbClr val="22C55E">
                <a:alpha val="40000"/>
              </a:srgbClr>
            </a:solidFill>
            <a:prstDash val="dash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175500" y="5334000"/>
            <a:ext cx="4064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5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“ 构建‘交易+投资+运营+服务’的</a:t>
            </a:r>
            <a:r>
              <a:rPr lang="en-US" b="true" i="false" strike="noStrike" u="none" sz="15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true" i="false" strike="noStrike" u="none" sz="15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5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全链路综合能源服务生态体系 ”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必要性与可行性：虚拟电厂（VPP）迎来爆发期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207000" cy="1587500"/>
          </a:xfrm>
          <a:prstGeom prst="roundRect">
            <a:avLst>
              <a:gd name="adj" fmla="val 64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752600"/>
            <a:ext cx="355600" cy="355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1714500"/>
            <a:ext cx="4191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什么是虚拟电厂？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800"/>
              </a:spcBef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聚合分布式电源、储能、充电桩、可调节负荷等分散资源，作为一个整体参与电力市场的辅助服务、需求响应和电能量交易，从而获取多元化收益。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302000"/>
            <a:ext cx="5207000" cy="1714500"/>
          </a:xfrm>
          <a:prstGeom prst="roundRect">
            <a:avLst>
              <a:gd name="adj" fmla="val 592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530600"/>
            <a:ext cx="355600" cy="3556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524000" y="3492500"/>
            <a:ext cx="4191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福建省政策领先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600"/>
              </a:spcBef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2026年1月《试行》文件明确了运营商入市条件及盈利模式。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补偿标准明确：一次调频</a:t>
            </a:r>
            <a:r>
              <a:rPr lang="en-US" b="true" i="false" strike="noStrike" u="none" sz="13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600元/兆瓦时</a:t>
            </a: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；旋转备用</a:t>
            </a:r>
            <a:r>
              <a:rPr lang="en-US" b="true" i="false" strike="noStrike" u="none" sz="13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50元/兆瓦时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51435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5372100"/>
            <a:ext cx="355600" cy="355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524000" y="5334000"/>
            <a:ext cx="4191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市场潜力验证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600"/>
              </a:spcBef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福建华电负荷类VPP已实现稳定收益，聚合规模达</a:t>
            </a:r>
            <a:r>
              <a:rPr lang="en-US" b="true" i="false" strike="noStrike" u="none" sz="12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3.5亿千瓦时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，可调能力达</a:t>
            </a:r>
            <a:r>
              <a:rPr lang="en-US" b="true" i="false" strike="noStrike" u="none" sz="12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5万千瓦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rcRect l="817" r="817" t="0" b="0"/>
          <a:stretch>
            <a:fillRect/>
          </a:stretch>
        </p:blipFill>
        <p:spPr>
          <a:xfrm rot="0" flipH="false" flipV="false">
            <a:off x="6350000" y="1905000"/>
            <a:ext cx="5080000" cy="3048000"/>
          </a:xfrm>
          <a:prstGeom prst="rect">
            <a:avLst/>
          </a:prstGeom>
          <a:noFill/>
          <a:ln w="50800" cmpd="sng" cap="flat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</p:pic>
      <p:sp>
        <p:nvSpPr>
          <p:cNvPr name="AutoShape 14" id="14"/>
          <p:cNvSpPr/>
          <p:nvPr/>
        </p:nvSpPr>
        <p:spPr>
          <a:xfrm rot="0" flipH="false" flipV="false">
            <a:off x="6350000" y="5207000"/>
            <a:ext cx="5080000" cy="1143000"/>
          </a:xfrm>
          <a:prstGeom prst="roundRect">
            <a:avLst>
              <a:gd name="adj" fmla="val 8888"/>
            </a:avLst>
          </a:prstGeom>
          <a:solidFill>
            <a:srgbClr val="F0FDF4">
              <a:alpha val="100000"/>
            </a:srgbClr>
          </a:solidFill>
          <a:ln w="12700" cmpd="sng" cap="flat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540500" y="53975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“聚沙成塔，化零为整”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66534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通过数字技术将碎片化资源整合，发挥规模效应，激活沉睡资产价值。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必要性与可行性：储能市场化破冰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2777" b="2777"/>
          <a:stretch>
            <a:fillRect/>
          </a:stretch>
        </p:blipFill>
        <p:spPr>
          <a:xfrm rot="0" flipH="false" flipV="false">
            <a:off x="762000" y="1778000"/>
            <a:ext cx="4572000" cy="4318000"/>
          </a:xfrm>
          <a:prstGeom prst="roundRect">
            <a:avLst>
              <a:gd name="adj" fmla="val 3529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5715000" y="1238250"/>
            <a:ext cx="57150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969000" y="1555750"/>
            <a:ext cx="508000" cy="508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6731000" y="1428750"/>
            <a:ext cx="4445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政策支持：身份独立，参与市场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福建省2026年2月新政明确，独立储能电站可作为</a:t>
            </a:r>
            <a:r>
              <a:rPr lang="en-US" b="tru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独立主体参与电力市场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，彻底改变了其以往的“从属”地位，为商业化打开大门。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715000" y="2787650"/>
            <a:ext cx="2730500" cy="2349500"/>
          </a:xfrm>
          <a:prstGeom prst="roundRect">
            <a:avLst>
              <a:gd name="adj" fmla="val 4324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5969000" y="3143250"/>
            <a:ext cx="457200" cy="4572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6604000" y="3143250"/>
            <a:ext cx="165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核心：峰谷套利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低充高发，赚取差价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969000" y="4159250"/>
            <a:ext cx="2222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利用约0.5元/kWh的峰谷价差（峰时0.8元 vs 谷时0.3元），通过“谷充峰放”实现稳健的基础收益。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699500" y="2787650"/>
            <a:ext cx="2730500" cy="2349500"/>
          </a:xfrm>
          <a:prstGeom prst="roundRect">
            <a:avLst>
              <a:gd name="adj" fmla="val 4324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8953500" y="3143250"/>
            <a:ext cx="457200" cy="4572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9588500" y="3143250"/>
            <a:ext cx="165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案例：效益显著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山东某10MW项目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953500" y="4159250"/>
            <a:ext cx="2222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凭借成熟的运营模式与价差优势，该项目实现了</a:t>
            </a:r>
            <a:r>
              <a:rPr lang="en-US" b="tru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年套利收益超1000万元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，验证了商业模式的可行性。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715000" y="5238750"/>
            <a:ext cx="5715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032500" y="5556250"/>
            <a:ext cx="508000" cy="5080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794500" y="5429250"/>
            <a:ext cx="4445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多元收益：叠加增值服务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除了基础的峰谷套利，还可叠加参与</a:t>
            </a:r>
            <a:r>
              <a:rPr lang="en-US" b="tru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调频、调峰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等电网辅助服务，进一步增厚项目收益，提升整体投资回报率(ROI)。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04 实施路径：分步推进，稳健发展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14688" r="14688" t="0" b="0"/>
          <a:stretch>
            <a:fillRect/>
          </a:stretch>
        </p:blipFill>
        <p:spPr>
          <a:xfrm rot="0" flipH="false" flipV="false">
            <a:off x="762000" y="1778000"/>
            <a:ext cx="4572000" cy="4318000"/>
          </a:xfrm>
          <a:prstGeom prst="roundRect">
            <a:avLst>
              <a:gd name="adj" fmla="val 3529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</p:pic>
      <p:sp>
        <p:nvSpPr>
          <p:cNvPr name="AutoShape 4" id="4"/>
          <p:cNvSpPr/>
          <p:nvPr/>
        </p:nvSpPr>
        <p:spPr>
          <a:xfrm rot="0" flipH="false" flipV="false">
            <a:off x="5715000" y="1778000"/>
            <a:ext cx="2921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715000" y="1968500"/>
            <a:ext cx="76200" cy="1651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969000" y="1968500"/>
            <a:ext cx="2413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能源投资部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1000"/>
              </a:spcBef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负责分布式光伏、储能等重资产项目的投资评估、开发和建设管理，保障资产端的持续增长。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763000" y="1778000"/>
            <a:ext cx="2921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763000" y="1968500"/>
            <a:ext cx="76200" cy="1651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017000" y="1968500"/>
            <a:ext cx="2413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购售电部 (核心业务)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1000"/>
              </a:spcBef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作为公司营收的核心引擎，负责申请售电牌照、开发高价值市场用户，并制定与执行购售电交易策略。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715000" y="4064000"/>
            <a:ext cx="2921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715000" y="4254500"/>
            <a:ext cx="76200" cy="1651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969000" y="4254500"/>
            <a:ext cx="2413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智慧运维与节能服务部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1000"/>
              </a:spcBef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负责智慧能源管理平台的建设与长期运维，同时为客户提供专业的能源诊断、能效提升及改造服务。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763000" y="4064000"/>
            <a:ext cx="2921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763000" y="4254500"/>
            <a:ext cx="76200" cy="1651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017000" y="4254500"/>
            <a:ext cx="2413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综合管理部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1000"/>
              </a:spcBef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统筹公司日常运营、财务管理、法律合规、人力资源配置及外部关系协调，为业务发展提供坚实支撑。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04 实施路径：业务开展优先级与步骤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302000" cy="4572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3302000" cy="1143000"/>
          </a:xfrm>
          <a:prstGeom prst="roundRect">
            <a:avLst>
              <a:gd name="adj" fmla="val 0"/>
            </a:avLst>
          </a:prstGeom>
          <a:solidFill>
            <a:srgbClr val="16A34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18415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PHASE 01 · 基础构建与快速启动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F0FDF4"/>
                </a:solidFill>
                <a:latin typeface="Noto Sans SC"/>
                <a:ea typeface="Noto Sans SC"/>
                <a:cs typeface="Noto Sans SC"/>
                <a:sym typeface="Noto Sans SC"/>
              </a:rPr>
              <a:t>（1-6个月）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3048000"/>
            <a:ext cx="3048000" cy="292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3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• 公司注册与牌照申请：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完成工商注册，立即启动售电公司资质申请。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33333"/>
              </a:lnSpc>
            </a:pPr>
            <a:r>
              <a:rPr lang="en-US" b="true" i="false" strike="noStrike" u="none" sz="13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• 核心团队组建：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招聘或内部调配核心人才，特别是电力交易员和技术运维人员。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33333"/>
              </a:lnSpc>
            </a:pPr>
            <a:r>
              <a:rPr lang="en-US" b="true" i="false" strike="noStrike" u="none" sz="13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• 启动内部业务与调研：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服务集团内部购售电，全面调研周边工商业用户。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651000"/>
            <a:ext cx="3302000" cy="4572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1651000"/>
            <a:ext cx="3302000" cy="1143000"/>
          </a:xfrm>
          <a:prstGeom prst="roundRect">
            <a:avLst>
              <a:gd name="adj" fmla="val 0"/>
            </a:avLst>
          </a:prstGeom>
          <a:solidFill>
            <a:srgbClr val="16A34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572000" y="18415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PHASE 02 · 能力建设与业务拓展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F0FDF4"/>
                </a:solidFill>
                <a:latin typeface="Noto Sans SC"/>
                <a:ea typeface="Noto Sans SC"/>
                <a:cs typeface="Noto Sans SC"/>
                <a:sym typeface="Noto Sans SC"/>
              </a:rPr>
              <a:t>（6-18个月）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72000" y="3048000"/>
            <a:ext cx="3048000" cy="292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3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• 构建技术平台：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开发或采购负荷与电价预测模型，启动虚拟电厂平台建设。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33333"/>
              </a:lnSpc>
            </a:pPr>
            <a:r>
              <a:rPr lang="en-US" b="true" i="false" strike="noStrike" u="none" sz="13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• 开展分布式能源投资：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优先利用集团闲置屋顶，落地首个分布式光伏项目。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33333"/>
              </a:lnSpc>
            </a:pPr>
            <a:r>
              <a:rPr lang="en-US" b="true" i="false" strike="noStrike" u="none" sz="13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• 拓展外部购售电业务：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签约园区优质用户，扩大售电规模，建立客户基础。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0" y="1651000"/>
            <a:ext cx="3302000" cy="4572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1651000"/>
            <a:ext cx="3302000" cy="1143000"/>
          </a:xfrm>
          <a:prstGeom prst="roundRect">
            <a:avLst>
              <a:gd name="adj" fmla="val 0"/>
            </a:avLst>
          </a:prstGeom>
          <a:solidFill>
            <a:srgbClr val="16A34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255000" y="18415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PHASE 03 · 模式创新与价值提升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F0FDF4"/>
                </a:solidFill>
                <a:latin typeface="Noto Sans SC"/>
                <a:ea typeface="Noto Sans SC"/>
                <a:cs typeface="Noto Sans SC"/>
                <a:sym typeface="Noto Sans SC"/>
              </a:rPr>
              <a:t>（18个月以后）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255000" y="3048000"/>
            <a:ext cx="3048000" cy="292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3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• 虚拟电厂规模化运营：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大规模聚合资源，深度参与辅助服务与需求响应市场。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33333"/>
              </a:lnSpc>
            </a:pPr>
            <a:r>
              <a:rPr lang="en-US" b="true" i="false" strike="noStrike" u="none" sz="13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• 投资建设储能电站：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在工业园区或负荷中心，建设独立储能电站以提升调节能力。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33333"/>
              </a:lnSpc>
            </a:pPr>
            <a:r>
              <a:rPr lang="en-US" b="true" i="false" strike="noStrike" u="none" sz="13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• 推广综合能源服务：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推广合同能源管理(EMC)，探索增量配网与零碳园区建设。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关键前提：售电业务牌照申请条件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2540000" cy="4318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676400" y="2159000"/>
            <a:ext cx="711200" cy="7112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889000" y="3175000"/>
            <a:ext cx="228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 / 经营范围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4064000"/>
            <a:ext cx="2159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企业营业执照的经营范围中，必须明确包含“</a:t>
            </a:r>
            <a:r>
              <a:rPr lang="en-US" b="true" i="false" strike="noStrike" u="none" sz="14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电力销售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”、“</a:t>
            </a:r>
            <a:r>
              <a:rPr lang="en-US" b="true" i="false" strike="noStrike" u="none" sz="14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售电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”或“</a:t>
            </a:r>
            <a:r>
              <a:rPr lang="en-US" b="true" i="false" strike="noStrike" u="none" sz="14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电力供应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”等相关业务事项。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556000" y="1778000"/>
            <a:ext cx="2540000" cy="4318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470400" y="2159000"/>
            <a:ext cx="711200" cy="7112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3683000" y="3175000"/>
            <a:ext cx="228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/ 资产要求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746500" y="4064000"/>
            <a:ext cx="2159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实缴资产总额不得低于</a:t>
            </a: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2000万元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。该金额需与会计师事务所出具的年度财务审计报告中期末余额一致。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350000" y="1778000"/>
            <a:ext cx="2540000" cy="4318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7264400" y="2159000"/>
            <a:ext cx="711200" cy="7112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6477000" y="3175000"/>
            <a:ext cx="228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/ 从业人员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540500" y="4064000"/>
            <a:ext cx="2159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专业技术人员至少</a:t>
            </a:r>
            <a:r>
              <a:rPr lang="en-US" b="true" i="false" strike="noStrike" u="none" sz="14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10人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。其中，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高级职称人员：</a:t>
            </a:r>
            <a:r>
              <a:rPr lang="en-US" b="true" i="false" strike="noStrike" u="none" sz="14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1人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中级职称人员：</a:t>
            </a:r>
            <a:r>
              <a:rPr lang="en-US" b="true" i="false" strike="noStrike" u="none" sz="14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3人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所有人员需签署个人知情确认文件。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144000" y="1778000"/>
            <a:ext cx="2540000" cy="4318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058400" y="2159000"/>
            <a:ext cx="711200" cy="7112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9271000" y="3175000"/>
            <a:ext cx="228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04 / 系统与场所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334500" y="4064000"/>
            <a:ext cx="2159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电力技术支持系统：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需提供系统软件著作权证书或有效采购合同。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固定办公场所：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需提供房产产权证明或有效期内的租赁合同。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核心数据汇总表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07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447800" y="1879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/ 国家政策目标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540000"/>
            <a:ext cx="469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全国虚拟电厂调节能力目标 (2027年)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目标值：</a:t>
            </a:r>
            <a:r>
              <a:rPr lang="en-US" b="true" i="false" strike="noStrike" u="none" sz="1600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2000万千瓦以上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来源：国家发展和改革委员会 / 2025年相关规划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1651000"/>
            <a:ext cx="5207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19050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6908800" y="1879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/ 福建省市场准入规则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77000" y="2540000"/>
            <a:ext cx="469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市场主体：明确包含虚拟电厂、储能等</a:t>
            </a:r>
            <a:r>
              <a:rPr lang="en-US" b="tru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新型经营主体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入市门槛：原则上需具备</a:t>
            </a:r>
            <a:r>
              <a:rPr lang="en-US" b="tru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售电公司资质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方可参与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来源：《福建电力市场运行基本规则》/2025及2026年交易细则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191000"/>
            <a:ext cx="5207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4450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447800" y="4419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 / 电力辅助服务补偿标准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5080000"/>
            <a:ext cx="469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有偿一次调频：</a:t>
            </a:r>
            <a:r>
              <a:rPr lang="en-US" b="true" i="false" strike="noStrike" u="none" sz="1400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600元/兆瓦时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现货市场旋转备用：</a:t>
            </a:r>
            <a:r>
              <a:rPr lang="en-US" b="true" i="false" strike="noStrike" u="none" sz="1400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50元/兆瓦时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来源：《福建省电力辅助服务管理实施细则》/2026年版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23000" y="4191000"/>
            <a:ext cx="5207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77000" y="44450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908800" y="4419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04 / 标杆案例参考 (福建华电)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5080000"/>
            <a:ext cx="469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负荷聚合总规模：</a:t>
            </a:r>
            <a:r>
              <a:rPr lang="en-US" b="true" i="false" strike="noStrike" u="none" sz="14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3.5亿千瓦时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实测可调能力：</a:t>
            </a:r>
            <a:r>
              <a:rPr lang="en-US" b="true" i="false" strike="noStrike" u="none" sz="14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5万千瓦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来源：福建日报公开报道 / 2025年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福建省九地市新型能源体系发展效率变动情况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7039" r="7039" t="0" b="0"/>
          <a:stretch>
            <a:fillRect/>
          </a:stretch>
        </p:blipFill>
        <p:spPr>
          <a:xfrm rot="0" flipH="false" flipV="false">
            <a:off x="762000" y="1778000"/>
            <a:ext cx="5207000" cy="4318000"/>
          </a:xfrm>
          <a:prstGeom prst="rect">
            <a:avLst/>
          </a:prstGeom>
          <a:noFill/>
          <a:ln w="50800" cmpd="sng" cap="flat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223000" y="1778000"/>
            <a:ext cx="101600" cy="4318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604000" y="2159000"/>
            <a:ext cx="444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区域竞争态势与光泽机遇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604000" y="3048000"/>
            <a:ext cx="4445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从图表展示的全省九地市效率变动情况可以清晰看到，各地市均已启动新型能源体系的建设与转型进程，整体处于上升发展期。但横向对比来看，发展不均衡、效率提升幅度有限等问题依然存在，全省在该领域仍有巨大的挖掘与提升空间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604000" y="4572000"/>
            <a:ext cx="4445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对于光泽县而言，这是一次关键的战略机遇。若能以此为契机，积极整合资源</a:t>
            </a:r>
            <a:r>
              <a:rPr lang="en-US" b="true" i="false" strike="noStrike" u="none" sz="14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成立综合能源公司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，不仅能优化本地能源结构，更有望在激烈的区域竞争中实现弯道超车，</a:t>
            </a:r>
            <a:r>
              <a:rPr lang="en-US" b="true" i="false" strike="noStrike" u="none" sz="14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脱颖而出，成为全省绿色转型发展的典范。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355600" cy="355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18796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核心结论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540000"/>
            <a:ext cx="469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成立综合能源公司是红杉集团破解当前困局、实现战略转型的必然选择，具备充分的政策依据和巨大的市场潜力。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419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4445000"/>
            <a:ext cx="355600" cy="355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524000" y="44196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下一步工作建议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5080000"/>
            <a:ext cx="4699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恳请各位领导审议并支持成立福建光泽红杉综合能源有限公司，并协调相关部门在公司注册、牌照申请、项目审批等方面给予支持。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rcRect l="0" r="0" t="18093" b="18093"/>
          <a:stretch>
            <a:fillRect/>
          </a:stretch>
        </p:blipFill>
        <p:spPr>
          <a:xfrm rot="0" flipH="false" flipV="false">
            <a:off x="6350000" y="1651000"/>
            <a:ext cx="5080000" cy="2159000"/>
          </a:xfrm>
          <a:prstGeom prst="roundRect">
            <a:avLst>
              <a:gd name="adj" fmla="val 7058"/>
            </a:avLst>
          </a:prstGeom>
          <a:noFill/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</p:pic>
      <p:sp>
        <p:nvSpPr>
          <p:cNvPr name="AutoShape 13" id="13"/>
          <p:cNvSpPr/>
          <p:nvPr/>
        </p:nvSpPr>
        <p:spPr>
          <a:xfrm rot="0" flipH="false" flipV="false">
            <a:off x="6350000" y="4064000"/>
            <a:ext cx="2413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540500" y="4318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7112000" y="4318000"/>
            <a:ext cx="14605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盘活存量资产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540500" y="5080000"/>
            <a:ext cx="203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整合闲置资源，提升国有资产运营效益，实现保值增值。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017000" y="4064000"/>
            <a:ext cx="2413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9207500" y="4318000"/>
            <a:ext cx="406400" cy="406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9779000" y="4318000"/>
            <a:ext cx="14605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培育新增长点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207500" y="5080000"/>
            <a:ext cx="203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拓展新能源业务版图，增强集团抗风险与可持续发展能力。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2540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3810000"/>
            <a:ext cx="1016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7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期待您的支持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5334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 spc="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THANKS FOR WATCHING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